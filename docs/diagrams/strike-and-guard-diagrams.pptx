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The escort demo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Seen from above. Everything here is decided live; nothing is a recorded routine.</a:t>
            </a:r>
          </a:p>
        </p:txBody>
      </p:sp>
      <p:sp>
        <p:nvSpPr>
          <p:cNvPr id="4" name="Oval 3"/>
          <p:cNvSpPr/>
          <p:nvPr/>
        </p:nvSpPr>
        <p:spPr>
          <a:xfrm>
            <a:off x="1051560" y="1280160"/>
            <a:ext cx="5029200" cy="5029200"/>
          </a:xfrm>
          <a:prstGeom prst="ellipse">
            <a:avLst/>
          </a:prstGeom>
          <a:solidFill>
            <a:srgbClr val="F1F5F9"/>
          </a:solidFill>
          <a:ln w="15875">
            <a:solidFill>
              <a:srgbClr val="CBD5E1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59436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tracked area (the arena)</a:t>
            </a:r>
          </a:p>
        </p:txBody>
      </p:sp>
      <p:sp>
        <p:nvSpPr>
          <p:cNvPr id="6" name="Oval 5"/>
          <p:cNvSpPr/>
          <p:nvPr/>
        </p:nvSpPr>
        <p:spPr>
          <a:xfrm>
            <a:off x="2423160" y="2651760"/>
            <a:ext cx="2286000" cy="2286000"/>
          </a:xfrm>
          <a:prstGeom prst="ellipse">
            <a:avLst/>
          </a:prstGeom>
          <a:noFill/>
          <a:ln w="15875">
            <a:solidFill>
              <a:srgbClr val="1D4ED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660086" y="3957066"/>
            <a:ext cx="1558008" cy="726511"/>
          </a:xfrm>
          <a:prstGeom prst="line">
            <a:avLst/>
          </a:prstGeom>
          <a:ln w="19050">
            <a:solidFill>
              <a:srgbClr val="DC2626"/>
            </a:solidFill>
            <a:prstDash val="dash"/>
          </a:ln>
        </p:spPr>
      </p:cxnSp>
      <p:sp>
        <p:nvSpPr>
          <p:cNvPr id="8" name="Oval 7"/>
          <p:cNvSpPr/>
          <p:nvPr/>
        </p:nvSpPr>
        <p:spPr>
          <a:xfrm>
            <a:off x="2293238" y="4040800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56585" y="4040800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93238" y="4304147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56585" y="4304147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33690" y="4181252"/>
            <a:ext cx="193121" cy="193121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89851" y="469222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53198" y="469222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89851" y="4955575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53198" y="4955575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30303" y="4832680"/>
            <a:ext cx="193121" cy="193121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70547" y="2935225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633894" y="2935225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370547" y="3198572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33894" y="3198572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10999" y="3075677"/>
            <a:ext cx="193121" cy="193121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171139" y="3399739"/>
            <a:ext cx="351130" cy="3511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10051" y="3399739"/>
            <a:ext cx="351130" cy="3511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171139" y="3838651"/>
            <a:ext cx="351130" cy="3511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610051" y="3838651"/>
            <a:ext cx="351130" cy="3511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405226" y="3633826"/>
            <a:ext cx="321869" cy="321869"/>
          </a:xfrm>
          <a:prstGeom prst="roundRect">
            <a:avLst/>
          </a:prstGeom>
          <a:solidFill>
            <a:srgbClr val="D97706"/>
          </a:solidFill>
          <a:ln w="15875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3073" y="4446564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686421" y="4446564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23073" y="4709912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686421" y="4709912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563525" y="4587016"/>
            <a:ext cx="193121" cy="193121"/>
          </a:xfrm>
          <a:prstGeom prst="roundRect">
            <a:avLst/>
          </a:prstGeom>
          <a:solidFill>
            <a:srgbClr val="DC2626"/>
          </a:solidFill>
          <a:ln w="15875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766560" y="1536192"/>
            <a:ext cx="310896" cy="310896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69480" y="150876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D97706"/>
                </a:solidFill>
                <a:latin typeface="Calibri"/>
              </a:rPr>
              <a:t>The VIP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1856232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A larger DJI drone, flown by hand by a pilot. It is the thing being protected.</a:t>
            </a:r>
          </a:p>
        </p:txBody>
      </p:sp>
      <p:sp>
        <p:nvSpPr>
          <p:cNvPr id="36" name="Oval 35"/>
          <p:cNvSpPr/>
          <p:nvPr/>
        </p:nvSpPr>
        <p:spPr>
          <a:xfrm>
            <a:off x="6766560" y="2706624"/>
            <a:ext cx="310896" cy="3108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69480" y="2679192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D4ED8"/>
                </a:solidFill>
                <a:latin typeface="Calibri"/>
              </a:rPr>
              <a:t>Three defenders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3026664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Hold a ring 1 m around the VIP. When a threat comes, the whole ring turns so one defender is in the way.</a:t>
            </a:r>
          </a:p>
        </p:txBody>
      </p:sp>
      <p:sp>
        <p:nvSpPr>
          <p:cNvPr id="39" name="Oval 38"/>
          <p:cNvSpPr/>
          <p:nvPr/>
        </p:nvSpPr>
        <p:spPr>
          <a:xfrm>
            <a:off x="6766560" y="3877056"/>
            <a:ext cx="310896" cy="31089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69480" y="384962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DC2626"/>
                </a:solidFill>
                <a:latin typeface="Calibri"/>
              </a:rPr>
              <a:t>One attacker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480" y="4197096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Tries to reach the VIP by hunting for gaps in the ring. It improvises; no two runs are the same.</a:t>
            </a:r>
          </a:p>
        </p:txBody>
      </p:sp>
      <p:sp>
        <p:nvSpPr>
          <p:cNvPr id="42" name="Oval 41"/>
          <p:cNvSpPr/>
          <p:nvPr/>
        </p:nvSpPr>
        <p:spPr>
          <a:xfrm>
            <a:off x="6766560" y="5047488"/>
            <a:ext cx="310896" cy="310896"/>
          </a:xfrm>
          <a:prstGeom prst="ellipse">
            <a:avLst/>
          </a:prstGeom>
          <a:solidFill>
            <a:srgbClr val="3341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69480" y="5020056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334155"/>
                </a:solidFill>
                <a:latin typeface="Calibri"/>
              </a:rPr>
              <a:t>Cameras and one laptop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69480" y="5367528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Cameras on the walls see every drone 50 times a second. One laptop decides for all of them.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How the pieces 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Positions flow in from the cameras; commands flow out over one radio.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00200"/>
            <a:ext cx="2194560" cy="1234440"/>
          </a:xfrm>
          <a:prstGeom prst="roundRect">
            <a:avLst>
              <a:gd name="adj" fmla="val 8888"/>
            </a:avLst>
          </a:prstGeom>
          <a:solidFill>
            <a:srgbClr val="E2E8F0"/>
          </a:solidFill>
          <a:ln w="15875">
            <a:solidFill>
              <a:srgbClr val="334155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1F2937"/>
                </a:solidFill>
                <a:latin typeface="Calibri"/>
              </a:rPr>
              <a:t>Motion-capture cameras</a:t>
            </a:r>
          </a:p>
          <a:p>
            <a:pPr algn="ctr"/>
            <a:r>
              <a:rPr sz="1500" b="0" i="0">
                <a:solidFill>
                  <a:srgbClr val="1F2937"/>
                </a:solidFill>
                <a:latin typeface="Calibri"/>
              </a:rPr>
              <a:t>+ the Motive PC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OptiTrack cameras on the walls track reflective markers.</a:t>
            </a:r>
          </a:p>
        </p:txBody>
      </p:sp>
      <p:sp>
        <p:nvSpPr>
          <p:cNvPr id="6" name="Oval 5"/>
          <p:cNvSpPr/>
          <p:nvPr/>
        </p:nvSpPr>
        <p:spPr>
          <a:xfrm>
            <a:off x="1258214" y="4321454"/>
            <a:ext cx="263347" cy="2633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87398" y="4321454"/>
            <a:ext cx="263347" cy="2633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58214" y="4650638"/>
            <a:ext cx="263347" cy="2633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87398" y="4650638"/>
            <a:ext cx="263347" cy="2633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33779" y="4497019"/>
            <a:ext cx="241402" cy="241402"/>
          </a:xfrm>
          <a:prstGeom prst="roundRect">
            <a:avLst/>
          </a:prstGeom>
          <a:solidFill>
            <a:srgbClr val="D97706"/>
          </a:solidFill>
          <a:ln w="15875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507492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D97706"/>
                </a:solidFill>
                <a:latin typeface="Calibri"/>
              </a:rPr>
              <a:t>VIP: DJI, hand-flown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tracked like any other drone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554480" y="3520440"/>
            <a:ext cx="0" cy="685800"/>
          </a:xfrm>
          <a:prstGeom prst="line">
            <a:avLst/>
          </a:prstGeom>
          <a:ln w="19050">
            <a:solidFill>
              <a:srgbClr val="94A3B8"/>
            </a:solidFill>
            <a:prstDash val="dash"/>
            <a:tailEnd type="triangle" w="med" len="med"/>
          </a:ln>
        </p:spPr>
      </p:cxnSp>
      <p:sp>
        <p:nvSpPr>
          <p:cNvPr id="13" name="Rounded Rectangle 12"/>
          <p:cNvSpPr/>
          <p:nvPr/>
        </p:nvSpPr>
        <p:spPr>
          <a:xfrm>
            <a:off x="3566160" y="1325880"/>
            <a:ext cx="5120640" cy="4434840"/>
          </a:xfrm>
          <a:prstGeom prst="roundRect">
            <a:avLst>
              <a:gd name="adj" fmla="val 4123"/>
            </a:avLst>
          </a:prstGeom>
          <a:solidFill>
            <a:srgbClr val="E0E7FF"/>
          </a:solidFill>
          <a:ln w="15875">
            <a:solidFill>
              <a:srgbClr val="4338C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14173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4338CA"/>
                </a:solidFill>
                <a:latin typeface="Calibri"/>
              </a:rPr>
              <a:t>The laptop (ROS 2)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51760" y="2377440"/>
            <a:ext cx="1143000" cy="0"/>
          </a:xfrm>
          <a:prstGeom prst="line">
            <a:avLst/>
          </a:prstGeom>
          <a:ln w="25400">
            <a:solidFill>
              <a:srgbClr val="334155"/>
            </a:solidFill>
            <a:tailEnd type="triangle" w="med" len="med"/>
          </a:ln>
        </p:spPr>
      </p:cxnSp>
      <p:sp>
        <p:nvSpPr>
          <p:cNvPr id="16" name="TextBox 15"/>
          <p:cNvSpPr txBox="1"/>
          <p:nvPr/>
        </p:nvSpPr>
        <p:spPr>
          <a:xfrm>
            <a:off x="2697480" y="18745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positions</a:t>
            </a:r>
          </a:p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50×/s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94760" y="1874520"/>
            <a:ext cx="4663440" cy="96012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15875">
            <a:solidFill>
              <a:srgbClr val="4338CA"/>
            </a:solidFill>
          </a:ln>
          <a:effectLst/>
        </p:spPr>
        <p:txBody>
          <a:bodyPr rtlCol="0" anchor="ctr" wrap="square" lIns="182880" rIns="182880"/>
          <a:lstStyle/>
          <a:p>
            <a:pPr algn="l"/>
            <a:r>
              <a:rPr sz="1600" b="1" i="0">
                <a:solidFill>
                  <a:srgbClr val="1F2937"/>
                </a:solidFill>
                <a:latin typeface="Calibri"/>
              </a:rPr>
              <a:t>Mocap receiver</a:t>
            </a:r>
          </a:p>
          <a:p>
            <a:pPr algn="l"/>
            <a:r>
              <a:rPr sz="1200" b="0" i="0">
                <a:solidFill>
                  <a:srgbClr val="4338CA"/>
                </a:solidFill>
                <a:latin typeface="Courier New"/>
              </a:rPr>
              <a:t>motion_capture_tracking</a:t>
            </a:r>
          </a:p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turns camera data into positions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26480" y="2834640"/>
            <a:ext cx="0" cy="274320"/>
          </a:xfrm>
          <a:prstGeom prst="line">
            <a:avLst/>
          </a:prstGeom>
          <a:ln w="25400">
            <a:solidFill>
              <a:srgbClr val="4338CA"/>
            </a:solidFill>
            <a:tailEnd type="triangle" w="med" len="med"/>
          </a:ln>
        </p:spPr>
      </p:cxnSp>
      <p:sp>
        <p:nvSpPr>
          <p:cNvPr id="19" name="Rounded Rectangle 18"/>
          <p:cNvSpPr/>
          <p:nvPr/>
        </p:nvSpPr>
        <p:spPr>
          <a:xfrm>
            <a:off x="3794760" y="3108960"/>
            <a:ext cx="4663440" cy="96012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15875">
            <a:solidFill>
              <a:srgbClr val="4338CA"/>
            </a:solidFill>
          </a:ln>
          <a:effectLst/>
        </p:spPr>
        <p:txBody>
          <a:bodyPr rtlCol="0" anchor="ctr" wrap="square" lIns="182880" rIns="182880"/>
          <a:lstStyle/>
          <a:p>
            <a:pPr algn="l"/>
            <a:r>
              <a:rPr sz="1600" b="1" i="0">
                <a:solidFill>
                  <a:srgbClr val="1F2937"/>
                </a:solidFill>
                <a:latin typeface="Calibri"/>
              </a:rPr>
              <a:t>Escort show</a:t>
            </a:r>
          </a:p>
          <a:p>
            <a:pPr algn="l"/>
            <a:r>
              <a:rPr sz="1200" b="0" i="0">
                <a:solidFill>
                  <a:srgbClr val="4338CA"/>
                </a:solidFill>
                <a:latin typeface="Courier New"/>
              </a:rPr>
              <a:t>escort_show</a:t>
            </a:r>
          </a:p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decides where every drone should be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26480" y="4069080"/>
            <a:ext cx="0" cy="274320"/>
          </a:xfrm>
          <a:prstGeom prst="line">
            <a:avLst/>
          </a:prstGeom>
          <a:ln w="25400">
            <a:solidFill>
              <a:srgbClr val="4338CA"/>
            </a:solidFill>
            <a:tailEnd type="triangle" w="med" len="med"/>
          </a:ln>
        </p:spPr>
      </p:cxnSp>
      <p:sp>
        <p:nvSpPr>
          <p:cNvPr id="21" name="Rounded Rectangle 20"/>
          <p:cNvSpPr/>
          <p:nvPr/>
        </p:nvSpPr>
        <p:spPr>
          <a:xfrm>
            <a:off x="3794760" y="4343400"/>
            <a:ext cx="4663440" cy="96012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15875">
            <a:solidFill>
              <a:srgbClr val="4338CA"/>
            </a:solidFill>
          </a:ln>
          <a:effectLst/>
        </p:spPr>
        <p:txBody>
          <a:bodyPr rtlCol="0" anchor="ctr" wrap="square" lIns="182880" rIns="182880"/>
          <a:lstStyle/>
          <a:p>
            <a:pPr algn="l"/>
            <a:r>
              <a:rPr sz="1600" b="1" i="0">
                <a:solidFill>
                  <a:srgbClr val="1F2937"/>
                </a:solidFill>
                <a:latin typeface="Calibri"/>
              </a:rPr>
              <a:t>Drone server</a:t>
            </a:r>
          </a:p>
          <a:p>
            <a:pPr algn="l"/>
            <a:r>
              <a:rPr sz="1200" b="0" i="0">
                <a:solidFill>
                  <a:srgbClr val="4338CA"/>
                </a:solidFill>
                <a:latin typeface="Courier New"/>
              </a:rPr>
              <a:t>crazyflie_server</a:t>
            </a:r>
          </a:p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owns the radio, talks to the drones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60" y="4206240"/>
            <a:ext cx="2194560" cy="868680"/>
          </a:xfrm>
          <a:prstGeom prst="roundRect">
            <a:avLst>
              <a:gd name="adj" fmla="val 12631"/>
            </a:avLst>
          </a:prstGeom>
          <a:solidFill>
            <a:srgbClr val="E2E8F0"/>
          </a:solidFill>
          <a:ln w="15875">
            <a:solidFill>
              <a:srgbClr val="334155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1F2937"/>
                </a:solidFill>
                <a:latin typeface="Calibri"/>
              </a:rPr>
              <a:t>Crazyradio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USB radio dongle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58200" y="4645152"/>
            <a:ext cx="1051560" cy="0"/>
          </a:xfrm>
          <a:prstGeom prst="line">
            <a:avLst/>
          </a:prstGeom>
          <a:ln w="25400">
            <a:solidFill>
              <a:srgbClr val="334155"/>
            </a:solidFill>
            <a:tailEnd type="triangle" w="med" len="med"/>
          </a:ln>
        </p:spPr>
      </p:cxnSp>
      <p:sp>
        <p:nvSpPr>
          <p:cNvPr id="24" name="TextBox 23"/>
          <p:cNvSpPr txBox="1"/>
          <p:nvPr/>
        </p:nvSpPr>
        <p:spPr>
          <a:xfrm>
            <a:off x="8503920" y="475488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commands</a:t>
            </a:r>
          </a:p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20×/s each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10607040" y="3429000"/>
            <a:ext cx="0" cy="777240"/>
          </a:xfrm>
          <a:prstGeom prst="line">
            <a:avLst/>
          </a:prstGeom>
          <a:ln w="25400">
            <a:solidFill>
              <a:srgbClr val="334155"/>
            </a:solidFill>
            <a:tailEnd type="triangle" w="med" len="med"/>
          </a:ln>
        </p:spPr>
      </p:cxnSp>
      <p:sp>
        <p:nvSpPr>
          <p:cNvPr id="26" name="Rounded Rectangle 25"/>
          <p:cNvSpPr/>
          <p:nvPr/>
        </p:nvSpPr>
        <p:spPr>
          <a:xfrm>
            <a:off x="9144000" y="1600200"/>
            <a:ext cx="2560320" cy="178308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169164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2937"/>
                </a:solidFill>
                <a:latin typeface="Calibri"/>
              </a:rPr>
              <a:t>Crazyflie drones</a:t>
            </a:r>
          </a:p>
        </p:txBody>
      </p:sp>
      <p:sp>
        <p:nvSpPr>
          <p:cNvPr id="28" name="Oval 27"/>
          <p:cNvSpPr/>
          <p:nvPr/>
        </p:nvSpPr>
        <p:spPr>
          <a:xfrm>
            <a:off x="9439534" y="2170054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69963" y="2170054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39534" y="2400483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669963" y="2400483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562429" y="2292949"/>
            <a:ext cx="168981" cy="168981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60742" y="2170054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91171" y="2170054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60742" y="2400483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91171" y="2400483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83637" y="2292949"/>
            <a:ext cx="168981" cy="168981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481950" y="2170054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712379" y="2170054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481950" y="2400483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12379" y="2400483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604845" y="2292949"/>
            <a:ext cx="168981" cy="168981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003158" y="2170054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233587" y="2170054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003158" y="2400483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233587" y="2400483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1126053" y="2292949"/>
            <a:ext cx="168981" cy="168981"/>
          </a:xfrm>
          <a:prstGeom prst="roundRect">
            <a:avLst/>
          </a:prstGeom>
          <a:solidFill>
            <a:srgbClr val="DC2626"/>
          </a:solidFill>
          <a:ln w="15875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0" y="27889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3 defenders + 1 attacker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~30 g each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794760" y="5989320"/>
            <a:ext cx="4663440" cy="502920"/>
          </a:xfrm>
          <a:prstGeom prst="roundRect">
            <a:avLst>
              <a:gd name="adj" fmla="val 21818"/>
            </a:avLst>
          </a:prstGeom>
          <a:solidFill>
            <a:srgbClr val="FEF3C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  <a:r>
              <a:rPr sz="1300" b="0" i="0">
                <a:solidFill>
                  <a:srgbClr val="1F2937"/>
                </a:solidFill>
                <a:latin typeface="Calibri"/>
              </a:rPr>
              <a:t>Operator presses Enter at each stage</a:t>
            </a:r>
          </a:p>
        </p:txBody>
      </p:sp>
      <p:cxnSp>
        <p:nvCxnSpPr>
          <p:cNvPr id="50" name="Connector 49"/>
          <p:cNvCxnSpPr/>
          <p:nvPr/>
        </p:nvCxnSpPr>
        <p:spPr>
          <a:xfrm flipV="1">
            <a:off x="6126480" y="5760720"/>
            <a:ext cx="0" cy="228600"/>
          </a:xfrm>
          <a:prstGeom prst="line">
            <a:avLst/>
          </a:prstGeom>
          <a:ln w="19050">
            <a:solidFill>
              <a:srgbClr val="B45309"/>
            </a:solidFill>
            <a:tailEnd type="triangl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One decision, 20 times a second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Each step answers one question, and each can be changed without touching the others.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1965960" cy="2194560"/>
          </a:xfrm>
          <a:prstGeom prst="roundRect">
            <a:avLst>
              <a:gd name="adj" fmla="val 5581"/>
            </a:avLst>
          </a:prstGeom>
          <a:solidFill>
            <a:srgbClr val="E2E8F0"/>
          </a:solidFill>
          <a:ln w="15875">
            <a:solidFill>
              <a:srgbClr val="334155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334155"/>
                </a:solidFill>
                <a:latin typeface="Calibri"/>
              </a:rPr>
              <a:t>SENSE</a:t>
            </a:r>
          </a:p>
          <a:p>
            <a:pPr algn="ctr">
              <a:spcBef>
                <a:spcPts val="800"/>
              </a:spcBef>
            </a:pPr>
            <a:r>
              <a:rPr sz="1500" b="0" i="0">
                <a:solidFill>
                  <a:srgbClr val="1F2937"/>
                </a:solidFill>
                <a:latin typeface="Calibri"/>
              </a:rPr>
              <a:t>Where is everything?</a:t>
            </a:r>
          </a:p>
          <a:p>
            <a:pPr algn="ctr">
              <a:spcBef>
                <a:spcPts val="800"/>
              </a:spcBef>
            </a:pPr>
            <a:r>
              <a:rPr sz="1200" b="0" i="0">
                <a:solidFill>
                  <a:srgbClr val="6B7280"/>
                </a:solidFill>
                <a:latin typeface="Calibri"/>
              </a:rPr>
              <a:t>cameras, 50×/s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496312" y="2926080"/>
            <a:ext cx="246888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</p:cxnSp>
      <p:sp>
        <p:nvSpPr>
          <p:cNvPr id="6" name="Rounded Rectangle 5"/>
          <p:cNvSpPr/>
          <p:nvPr/>
        </p:nvSpPr>
        <p:spPr>
          <a:xfrm>
            <a:off x="2770632" y="1828800"/>
            <a:ext cx="1965960" cy="2194560"/>
          </a:xfrm>
          <a:prstGeom prst="roundRect">
            <a:avLst>
              <a:gd name="adj" fmla="val 5581"/>
            </a:avLst>
          </a:prstGeom>
          <a:solidFill>
            <a:srgbClr val="E0E7FF"/>
          </a:solidFill>
          <a:ln w="15875">
            <a:solidFill>
              <a:srgbClr val="4338CA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4338CA"/>
                </a:solidFill>
                <a:latin typeface="Calibri"/>
              </a:rPr>
              <a:t>DECIDE</a:t>
            </a:r>
          </a:p>
          <a:p>
            <a:pPr algn="ctr">
              <a:spcBef>
                <a:spcPts val="800"/>
              </a:spcBef>
            </a:pPr>
            <a:r>
              <a:rPr sz="1500" b="0" i="0">
                <a:solidFill>
                  <a:srgbClr val="1F2937"/>
                </a:solidFill>
                <a:latin typeface="Calibri"/>
              </a:rPr>
              <a:t>Is there a threat?</a:t>
            </a:r>
          </a:p>
          <a:p>
            <a:pPr algn="ctr"/>
            <a:r>
              <a:rPr sz="1500" b="0" i="0">
                <a:solidFill>
                  <a:srgbClr val="1F2937"/>
                </a:solidFill>
                <a:latin typeface="Calibri"/>
              </a:rPr>
              <a:t>Who blocks it?</a:t>
            </a:r>
          </a:p>
          <a:p>
            <a:pPr algn="ctr">
              <a:spcBef>
                <a:spcPts val="800"/>
              </a:spcBef>
            </a:pPr>
            <a:r>
              <a:rPr sz="1200" b="0" i="0">
                <a:solidFill>
                  <a:srgbClr val="6B7280"/>
                </a:solidFill>
                <a:latin typeface="Calibri"/>
              </a:rPr>
              <a:t>escort controller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64024" y="2926080"/>
            <a:ext cx="246888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</p:cxnSp>
      <p:sp>
        <p:nvSpPr>
          <p:cNvPr id="8" name="Rounded Rectangle 7"/>
          <p:cNvSpPr/>
          <p:nvPr/>
        </p:nvSpPr>
        <p:spPr>
          <a:xfrm>
            <a:off x="5038344" y="1828800"/>
            <a:ext cx="1965960" cy="2194560"/>
          </a:xfrm>
          <a:prstGeom prst="roundRect">
            <a:avLst>
              <a:gd name="adj" fmla="val 5581"/>
            </a:avLst>
          </a:prstGeom>
          <a:solidFill>
            <a:srgbClr val="DBEAFE"/>
          </a:solidFill>
          <a:ln w="15875">
            <a:solidFill>
              <a:srgbClr val="1D4ED8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1D4ED8"/>
                </a:solidFill>
                <a:latin typeface="Calibri"/>
              </a:rPr>
              <a:t>FORMATION</a:t>
            </a:r>
          </a:p>
          <a:p>
            <a:pPr algn="ctr">
              <a:spcBef>
                <a:spcPts val="800"/>
              </a:spcBef>
            </a:pPr>
            <a:r>
              <a:rPr sz="1500" b="0" i="0">
                <a:solidFill>
                  <a:srgbClr val="1F2937"/>
                </a:solidFill>
                <a:latin typeface="Calibri"/>
              </a:rPr>
              <a:t>Where should each</a:t>
            </a:r>
          </a:p>
          <a:p>
            <a:pPr algn="ctr"/>
            <a:r>
              <a:rPr sz="1500" b="0" i="0">
                <a:solidFill>
                  <a:srgbClr val="1F2937"/>
                </a:solidFill>
                <a:latin typeface="Calibri"/>
              </a:rPr>
              <a:t>defender be?</a:t>
            </a:r>
          </a:p>
          <a:p>
            <a:pPr algn="ctr">
              <a:spcBef>
                <a:spcPts val="800"/>
              </a:spcBef>
            </a:pPr>
            <a:r>
              <a:rPr sz="1200" b="0" i="0">
                <a:solidFill>
                  <a:srgbClr val="6B7280"/>
                </a:solidFill>
                <a:latin typeface="Calibri"/>
              </a:rPr>
              <a:t>the turning ring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31736" y="2926080"/>
            <a:ext cx="246888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</p:cxnSp>
      <p:sp>
        <p:nvSpPr>
          <p:cNvPr id="10" name="Rounded Rectangle 9"/>
          <p:cNvSpPr/>
          <p:nvPr/>
        </p:nvSpPr>
        <p:spPr>
          <a:xfrm>
            <a:off x="7306056" y="1828800"/>
            <a:ext cx="1965960" cy="2194560"/>
          </a:xfrm>
          <a:prstGeom prst="roundRect">
            <a:avLst>
              <a:gd name="adj" fmla="val 5581"/>
            </a:avLst>
          </a:prstGeom>
          <a:solidFill>
            <a:srgbClr val="DCFCE7"/>
          </a:solidFill>
          <a:ln w="15875">
            <a:solidFill>
              <a:srgbClr val="15803D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15803D"/>
                </a:solidFill>
                <a:latin typeface="Calibri"/>
              </a:rPr>
              <a:t>SAFETY CHECK</a:t>
            </a:r>
          </a:p>
          <a:p>
            <a:pPr algn="ctr">
              <a:spcBef>
                <a:spcPts val="800"/>
              </a:spcBef>
            </a:pPr>
            <a:r>
              <a:rPr sz="1500" b="0" i="0">
                <a:solidFill>
                  <a:srgbClr val="1F2937"/>
                </a:solidFill>
                <a:latin typeface="Calibri"/>
              </a:rPr>
              <a:t>Is that command</a:t>
            </a:r>
          </a:p>
          <a:p>
            <a:pPr algn="ctr"/>
            <a:r>
              <a:rPr sz="1500" b="0" i="0">
                <a:solidFill>
                  <a:srgbClr val="1F2937"/>
                </a:solidFill>
                <a:latin typeface="Calibri"/>
              </a:rPr>
              <a:t>allowed?</a:t>
            </a:r>
          </a:p>
          <a:p>
            <a:pPr algn="ctr">
              <a:spcBef>
                <a:spcPts val="800"/>
              </a:spcBef>
            </a:pPr>
            <a:r>
              <a:rPr sz="1200" b="0" i="0">
                <a:solidFill>
                  <a:srgbClr val="6B7280"/>
                </a:solidFill>
                <a:latin typeface="Calibri"/>
              </a:rPr>
              <a:t>speed, spacing, room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299448" y="2926080"/>
            <a:ext cx="246888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</p:cxnSp>
      <p:sp>
        <p:nvSpPr>
          <p:cNvPr id="12" name="Rounded Rectangle 11"/>
          <p:cNvSpPr/>
          <p:nvPr/>
        </p:nvSpPr>
        <p:spPr>
          <a:xfrm>
            <a:off x="9573768" y="1828800"/>
            <a:ext cx="1965960" cy="2194560"/>
          </a:xfrm>
          <a:prstGeom prst="roundRect">
            <a:avLst>
              <a:gd name="adj" fmla="val 5581"/>
            </a:avLst>
          </a:prstGeom>
          <a:solidFill>
            <a:srgbClr val="E2E8F0"/>
          </a:solidFill>
          <a:ln w="15875">
            <a:solidFill>
              <a:srgbClr val="334155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334155"/>
                </a:solidFill>
                <a:latin typeface="Calibri"/>
              </a:rPr>
              <a:t>ACT</a:t>
            </a:r>
          </a:p>
          <a:p>
            <a:pPr algn="ctr">
              <a:spcBef>
                <a:spcPts val="800"/>
              </a:spcBef>
            </a:pPr>
            <a:r>
              <a:rPr sz="1500" b="0" i="0">
                <a:solidFill>
                  <a:srgbClr val="1F2937"/>
                </a:solidFill>
                <a:latin typeface="Calibri"/>
              </a:rPr>
              <a:t>Send it to</a:t>
            </a:r>
          </a:p>
          <a:p>
            <a:pPr algn="ctr"/>
            <a:r>
              <a:rPr sz="1500" b="0" i="0">
                <a:solidFill>
                  <a:srgbClr val="1F2937"/>
                </a:solidFill>
                <a:latin typeface="Calibri"/>
              </a:rPr>
              <a:t>the drones</a:t>
            </a:r>
          </a:p>
          <a:p>
            <a:pPr algn="ctr">
              <a:spcBef>
                <a:spcPts val="800"/>
              </a:spcBef>
            </a:pPr>
            <a:r>
              <a:rPr sz="1200" b="0" i="0">
                <a:solidFill>
                  <a:srgbClr val="6B7280"/>
                </a:solidFill>
                <a:latin typeface="Calibri"/>
              </a:rPr>
              <a:t>radio, 20×/s each</a:t>
            </a:r>
          </a:p>
        </p:txBody>
      </p:sp>
      <p:sp>
        <p:nvSpPr>
          <p:cNvPr id="13" name="Freeform 12"/>
          <p:cNvSpPr/>
          <p:nvPr/>
        </p:nvSpPr>
        <p:spPr>
          <a:xfrm>
            <a:off x="1485900" y="4023360"/>
            <a:ext cx="9070848" cy="731520"/>
          </a:xfrm>
          <a:custGeom>
            <a:avLst/>
            <a:gdLst/>
            <a:ahLst/>
            <a:cxnLst/>
            <a:rect l="l" t="t" r="r" b="b"/>
            <a:pathLst>
              <a:path w="9070848" h="731520">
                <a:moveTo>
                  <a:pt x="9070848" y="0"/>
                </a:moveTo>
                <a:lnTo>
                  <a:pt x="9070848" y="731520"/>
                </a:lnTo>
                <a:lnTo>
                  <a:pt x="0" y="731520"/>
                </a:lnTo>
                <a:lnTo>
                  <a:pt x="0" y="18288"/>
                </a:lnTo>
              </a:path>
            </a:pathLst>
          </a:custGeom>
          <a:noFill/>
          <a:ln w="25400">
            <a:solidFill>
              <a:srgbClr val="94A3B8"/>
            </a:solidFill>
            <a:prstDash val="dash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48463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Calibri"/>
              </a:rPr>
              <a:t>the drones move, and the cameras see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The safety check does not care how the ring was chosen. That is what lets one offline checker (plan_escort) test the whole chain before anything flies.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Turn the ring, never swap drones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The drones cannot see each other, so the paths themselves must never cross.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417320"/>
            <a:ext cx="5486400" cy="4526280"/>
          </a:xfrm>
          <a:prstGeom prst="roundRect">
            <a:avLst>
              <a:gd name="adj" fmla="val 2424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572768"/>
            <a:ext cx="384048" cy="38404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DejaVu Sans"/>
              </a:rPr>
              <a:t>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DC2626"/>
                </a:solidFill>
                <a:latin typeface="Calibri"/>
              </a:rPr>
              <a:t>Swap places (not used)</a:t>
            </a:r>
          </a:p>
        </p:txBody>
      </p:sp>
      <p:sp>
        <p:nvSpPr>
          <p:cNvPr id="7" name="Oval 6"/>
          <p:cNvSpPr/>
          <p:nvPr/>
        </p:nvSpPr>
        <p:spPr>
          <a:xfrm>
            <a:off x="1737360" y="2514600"/>
            <a:ext cx="2651760" cy="2651760"/>
          </a:xfrm>
          <a:prstGeom prst="ellipse">
            <a:avLst/>
          </a:prstGeom>
          <a:noFill/>
          <a:ln w="15875">
            <a:solidFill>
              <a:srgbClr val="94A3B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66974" y="3544214"/>
            <a:ext cx="263347" cy="2633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096158" y="3544214"/>
            <a:ext cx="263347" cy="2633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66974" y="3873398"/>
            <a:ext cx="263347" cy="2633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096158" y="3873398"/>
            <a:ext cx="263347" cy="2633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42539" y="3719779"/>
            <a:ext cx="241402" cy="241402"/>
          </a:xfrm>
          <a:prstGeom prst="roundRect">
            <a:avLst/>
          </a:prstGeom>
          <a:solidFill>
            <a:srgbClr val="D97706"/>
          </a:solidFill>
          <a:ln w="15875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H="1">
            <a:off x="2143594" y="2560320"/>
            <a:ext cx="919646" cy="1805940"/>
          </a:xfrm>
          <a:prstGeom prst="line">
            <a:avLst/>
          </a:prstGeom>
          <a:ln w="31750">
            <a:solidFill>
              <a:srgbClr val="DC2626"/>
            </a:solidFill>
            <a:tailEnd type="triangle" w="med" len="med"/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960714" y="2743200"/>
            <a:ext cx="919646" cy="1531620"/>
          </a:xfrm>
          <a:prstGeom prst="line">
            <a:avLst/>
          </a:prstGeom>
          <a:ln w="31750">
            <a:solidFill>
              <a:srgbClr val="DC2626"/>
            </a:solidFill>
            <a:tailEnd type="triangle" w="med" len="med"/>
          </a:ln>
        </p:spPr>
      </p:cxnSp>
      <p:sp>
        <p:nvSpPr>
          <p:cNvPr id="15" name="TextBox 14"/>
          <p:cNvSpPr txBox="1"/>
          <p:nvPr/>
        </p:nvSpPr>
        <p:spPr>
          <a:xfrm>
            <a:off x="502920" y="548640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1F2937"/>
                </a:solidFill>
                <a:latin typeface="Calibri"/>
              </a:rPr>
              <a:t>Two drones cross paths right next to the VIP.</a:t>
            </a:r>
          </a:p>
        </p:txBody>
      </p:sp>
      <p:sp>
        <p:nvSpPr>
          <p:cNvPr id="16" name="Oval 15"/>
          <p:cNvSpPr/>
          <p:nvPr/>
        </p:nvSpPr>
        <p:spPr>
          <a:xfrm>
            <a:off x="2826228" y="227758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089575" y="227758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826228" y="2540935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89575" y="2540935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966679" y="2418039"/>
            <a:ext cx="193121" cy="193121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677982" y="426640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941329" y="426640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677982" y="4529755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941329" y="4529755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818434" y="4406859"/>
            <a:ext cx="193121" cy="193121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74473" y="426640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237820" y="426640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974473" y="4529755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37820" y="4529755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114925" y="4406859"/>
            <a:ext cx="193121" cy="193121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55080" y="1417320"/>
            <a:ext cx="5486400" cy="4526280"/>
          </a:xfrm>
          <a:prstGeom prst="roundRect">
            <a:avLst>
              <a:gd name="adj" fmla="val 2424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537960" y="1572768"/>
            <a:ext cx="384048" cy="384048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DejaVu Sans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1600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5803D"/>
                </a:solidFill>
                <a:latin typeface="Calibri"/>
              </a:rPr>
              <a:t>Turn the whole ring (what we do)</a:t>
            </a:r>
          </a:p>
        </p:txBody>
      </p:sp>
      <p:sp>
        <p:nvSpPr>
          <p:cNvPr id="34" name="Oval 33"/>
          <p:cNvSpPr/>
          <p:nvPr/>
        </p:nvSpPr>
        <p:spPr>
          <a:xfrm>
            <a:off x="7772400" y="2514600"/>
            <a:ext cx="2651760" cy="2651760"/>
          </a:xfrm>
          <a:prstGeom prst="ellipse">
            <a:avLst/>
          </a:prstGeom>
          <a:noFill/>
          <a:ln w="15875">
            <a:solidFill>
              <a:srgbClr val="94A3B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802014" y="3544214"/>
            <a:ext cx="263347" cy="2633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31198" y="3544214"/>
            <a:ext cx="263347" cy="2633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802014" y="3873398"/>
            <a:ext cx="263347" cy="2633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131198" y="3873398"/>
            <a:ext cx="263347" cy="2633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977579" y="3719779"/>
            <a:ext cx="241402" cy="241402"/>
          </a:xfrm>
          <a:prstGeom prst="roundRect">
            <a:avLst/>
          </a:prstGeom>
          <a:solidFill>
            <a:srgbClr val="D97706"/>
          </a:solidFill>
          <a:ln w="15875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837305" y="2275248"/>
            <a:ext cx="928275" cy="580051"/>
          </a:xfrm>
          <a:custGeom>
            <a:avLst/>
            <a:gdLst/>
            <a:ahLst/>
            <a:cxnLst/>
            <a:rect l="l" t="t" r="r" b="b"/>
            <a:pathLst>
              <a:path w="928275" h="580051">
                <a:moveTo>
                  <a:pt x="928275" y="0"/>
                </a:moveTo>
                <a:lnTo>
                  <a:pt x="901008" y="6045"/>
                </a:lnTo>
                <a:lnTo>
                  <a:pt x="873852" y="12565"/>
                </a:lnTo>
                <a:lnTo>
                  <a:pt x="846813" y="19557"/>
                </a:lnTo>
                <a:lnTo>
                  <a:pt x="819900" y="27021"/>
                </a:lnTo>
                <a:lnTo>
                  <a:pt x="793122" y="34953"/>
                </a:lnTo>
                <a:lnTo>
                  <a:pt x="766486" y="43351"/>
                </a:lnTo>
                <a:lnTo>
                  <a:pt x="740001" y="52213"/>
                </a:lnTo>
                <a:lnTo>
                  <a:pt x="713674" y="61536"/>
                </a:lnTo>
                <a:lnTo>
                  <a:pt x="687515" y="71317"/>
                </a:lnTo>
                <a:lnTo>
                  <a:pt x="661530" y="81552"/>
                </a:lnTo>
                <a:lnTo>
                  <a:pt x="635727" y="92240"/>
                </a:lnTo>
                <a:lnTo>
                  <a:pt x="610115" y="103377"/>
                </a:lnTo>
                <a:lnTo>
                  <a:pt x="584701" y="114958"/>
                </a:lnTo>
                <a:lnTo>
                  <a:pt x="559493" y="126982"/>
                </a:lnTo>
                <a:lnTo>
                  <a:pt x="534499" y="139443"/>
                </a:lnTo>
                <a:lnTo>
                  <a:pt x="509727" y="152339"/>
                </a:lnTo>
                <a:lnTo>
                  <a:pt x="485183" y="165666"/>
                </a:lnTo>
                <a:lnTo>
                  <a:pt x="460875" y="179418"/>
                </a:lnTo>
                <a:lnTo>
                  <a:pt x="436811" y="193593"/>
                </a:lnTo>
                <a:lnTo>
                  <a:pt x="412998" y="208185"/>
                </a:lnTo>
                <a:lnTo>
                  <a:pt x="389444" y="223191"/>
                </a:lnTo>
                <a:lnTo>
                  <a:pt x="366155" y="238606"/>
                </a:lnTo>
                <a:lnTo>
                  <a:pt x="343138" y="254425"/>
                </a:lnTo>
                <a:lnTo>
                  <a:pt x="320401" y="270643"/>
                </a:lnTo>
                <a:lnTo>
                  <a:pt x="297951" y="287255"/>
                </a:lnTo>
                <a:lnTo>
                  <a:pt x="275794" y="304257"/>
                </a:lnTo>
                <a:lnTo>
                  <a:pt x="253937" y="321643"/>
                </a:lnTo>
                <a:lnTo>
                  <a:pt x="232386" y="339408"/>
                </a:lnTo>
                <a:lnTo>
                  <a:pt x="211149" y="357546"/>
                </a:lnTo>
                <a:lnTo>
                  <a:pt x="190232" y="376052"/>
                </a:lnTo>
                <a:lnTo>
                  <a:pt x="169641" y="394920"/>
                </a:lnTo>
                <a:lnTo>
                  <a:pt x="149383" y="414144"/>
                </a:lnTo>
                <a:lnTo>
                  <a:pt x="129463" y="433720"/>
                </a:lnTo>
                <a:lnTo>
                  <a:pt x="109887" y="453640"/>
                </a:lnTo>
                <a:lnTo>
                  <a:pt x="90663" y="473898"/>
                </a:lnTo>
                <a:lnTo>
                  <a:pt x="71795" y="494489"/>
                </a:lnTo>
                <a:lnTo>
                  <a:pt x="53289" y="515406"/>
                </a:lnTo>
                <a:lnTo>
                  <a:pt x="35151" y="536643"/>
                </a:lnTo>
                <a:lnTo>
                  <a:pt x="17386" y="558194"/>
                </a:lnTo>
                <a:lnTo>
                  <a:pt x="0" y="580051"/>
                </a:lnTo>
              </a:path>
            </a:pathLst>
          </a:custGeom>
          <a:noFill/>
          <a:ln w="31750">
            <a:solidFill>
              <a:srgbClr val="15803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909100" y="4911223"/>
            <a:ext cx="966475" cy="513884"/>
          </a:xfrm>
          <a:custGeom>
            <a:avLst/>
            <a:gdLst/>
            <a:ahLst/>
            <a:cxnLst/>
            <a:rect l="l" t="t" r="r" b="b"/>
            <a:pathLst>
              <a:path w="966475" h="513884">
                <a:moveTo>
                  <a:pt x="0" y="0"/>
                </a:moveTo>
                <a:lnTo>
                  <a:pt x="18868" y="20591"/>
                </a:lnTo>
                <a:lnTo>
                  <a:pt x="38092" y="40849"/>
                </a:lnTo>
                <a:lnTo>
                  <a:pt x="57668" y="60769"/>
                </a:lnTo>
                <a:lnTo>
                  <a:pt x="77588" y="80345"/>
                </a:lnTo>
                <a:lnTo>
                  <a:pt x="97846" y="99569"/>
                </a:lnTo>
                <a:lnTo>
                  <a:pt x="118437" y="118437"/>
                </a:lnTo>
                <a:lnTo>
                  <a:pt x="139354" y="136943"/>
                </a:lnTo>
                <a:lnTo>
                  <a:pt x="160591" y="155081"/>
                </a:lnTo>
                <a:lnTo>
                  <a:pt x="182142" y="172846"/>
                </a:lnTo>
                <a:lnTo>
                  <a:pt x="203999" y="190232"/>
                </a:lnTo>
                <a:lnTo>
                  <a:pt x="226156" y="207234"/>
                </a:lnTo>
                <a:lnTo>
                  <a:pt x="248606" y="223846"/>
                </a:lnTo>
                <a:lnTo>
                  <a:pt x="271343" y="240064"/>
                </a:lnTo>
                <a:lnTo>
                  <a:pt x="294360" y="255883"/>
                </a:lnTo>
                <a:lnTo>
                  <a:pt x="317649" y="271298"/>
                </a:lnTo>
                <a:lnTo>
                  <a:pt x="341203" y="286304"/>
                </a:lnTo>
                <a:lnTo>
                  <a:pt x="365016" y="300896"/>
                </a:lnTo>
                <a:lnTo>
                  <a:pt x="389080" y="315071"/>
                </a:lnTo>
                <a:lnTo>
                  <a:pt x="413388" y="328823"/>
                </a:lnTo>
                <a:lnTo>
                  <a:pt x="437932" y="342150"/>
                </a:lnTo>
                <a:lnTo>
                  <a:pt x="462704" y="355046"/>
                </a:lnTo>
                <a:lnTo>
                  <a:pt x="487698" y="367507"/>
                </a:lnTo>
                <a:lnTo>
                  <a:pt x="512906" y="379531"/>
                </a:lnTo>
                <a:lnTo>
                  <a:pt x="538320" y="391112"/>
                </a:lnTo>
                <a:lnTo>
                  <a:pt x="563932" y="402249"/>
                </a:lnTo>
                <a:lnTo>
                  <a:pt x="589735" y="412937"/>
                </a:lnTo>
                <a:lnTo>
                  <a:pt x="615720" y="423172"/>
                </a:lnTo>
                <a:lnTo>
                  <a:pt x="641879" y="432953"/>
                </a:lnTo>
                <a:lnTo>
                  <a:pt x="668206" y="442276"/>
                </a:lnTo>
                <a:lnTo>
                  <a:pt x="694691" y="451138"/>
                </a:lnTo>
                <a:lnTo>
                  <a:pt x="721327" y="459536"/>
                </a:lnTo>
                <a:lnTo>
                  <a:pt x="748105" y="467468"/>
                </a:lnTo>
                <a:lnTo>
                  <a:pt x="775018" y="474932"/>
                </a:lnTo>
                <a:lnTo>
                  <a:pt x="802057" y="481924"/>
                </a:lnTo>
                <a:lnTo>
                  <a:pt x="829213" y="488444"/>
                </a:lnTo>
                <a:lnTo>
                  <a:pt x="856480" y="494489"/>
                </a:lnTo>
                <a:lnTo>
                  <a:pt x="883847" y="500057"/>
                </a:lnTo>
                <a:lnTo>
                  <a:pt x="911308" y="505146"/>
                </a:lnTo>
                <a:lnTo>
                  <a:pt x="938854" y="509756"/>
                </a:lnTo>
                <a:lnTo>
                  <a:pt x="966475" y="513884"/>
                </a:lnTo>
              </a:path>
            </a:pathLst>
          </a:custGeom>
          <a:noFill/>
          <a:ln w="31750">
            <a:solidFill>
              <a:srgbClr val="15803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10581960" y="3241035"/>
            <a:ext cx="116520" cy="1093934"/>
          </a:xfrm>
          <a:custGeom>
            <a:avLst/>
            <a:gdLst/>
            <a:ahLst/>
            <a:cxnLst/>
            <a:rect l="l" t="t" r="r" b="b"/>
            <a:pathLst>
              <a:path w="116520" h="1093934">
                <a:moveTo>
                  <a:pt x="38201" y="1093934"/>
                </a:moveTo>
                <a:lnTo>
                  <a:pt x="46599" y="1067298"/>
                </a:lnTo>
                <a:lnTo>
                  <a:pt x="54531" y="1040520"/>
                </a:lnTo>
                <a:lnTo>
                  <a:pt x="61995" y="1013607"/>
                </a:lnTo>
                <a:lnTo>
                  <a:pt x="68987" y="986568"/>
                </a:lnTo>
                <a:lnTo>
                  <a:pt x="75507" y="959412"/>
                </a:lnTo>
                <a:lnTo>
                  <a:pt x="81552" y="932145"/>
                </a:lnTo>
                <a:lnTo>
                  <a:pt x="87120" y="904778"/>
                </a:lnTo>
                <a:lnTo>
                  <a:pt x="92209" y="877317"/>
                </a:lnTo>
                <a:lnTo>
                  <a:pt x="96819" y="849771"/>
                </a:lnTo>
                <a:lnTo>
                  <a:pt x="100947" y="822150"/>
                </a:lnTo>
                <a:lnTo>
                  <a:pt x="104592" y="794460"/>
                </a:lnTo>
                <a:lnTo>
                  <a:pt x="107754" y="766711"/>
                </a:lnTo>
                <a:lnTo>
                  <a:pt x="110431" y="738912"/>
                </a:lnTo>
                <a:lnTo>
                  <a:pt x="112622" y="711069"/>
                </a:lnTo>
                <a:lnTo>
                  <a:pt x="114327" y="683193"/>
                </a:lnTo>
                <a:lnTo>
                  <a:pt x="115545" y="655291"/>
                </a:lnTo>
                <a:lnTo>
                  <a:pt x="116276" y="627372"/>
                </a:lnTo>
                <a:lnTo>
                  <a:pt x="116520" y="599445"/>
                </a:lnTo>
                <a:lnTo>
                  <a:pt x="116276" y="571518"/>
                </a:lnTo>
                <a:lnTo>
                  <a:pt x="115545" y="543599"/>
                </a:lnTo>
                <a:lnTo>
                  <a:pt x="114327" y="515697"/>
                </a:lnTo>
                <a:lnTo>
                  <a:pt x="112622" y="487821"/>
                </a:lnTo>
                <a:lnTo>
                  <a:pt x="110431" y="459978"/>
                </a:lnTo>
                <a:lnTo>
                  <a:pt x="107754" y="432179"/>
                </a:lnTo>
                <a:lnTo>
                  <a:pt x="104592" y="404430"/>
                </a:lnTo>
                <a:lnTo>
                  <a:pt x="100947" y="376740"/>
                </a:lnTo>
                <a:lnTo>
                  <a:pt x="96819" y="349119"/>
                </a:lnTo>
                <a:lnTo>
                  <a:pt x="92209" y="321573"/>
                </a:lnTo>
                <a:lnTo>
                  <a:pt x="87120" y="294112"/>
                </a:lnTo>
                <a:lnTo>
                  <a:pt x="81552" y="266745"/>
                </a:lnTo>
                <a:lnTo>
                  <a:pt x="75507" y="239478"/>
                </a:lnTo>
                <a:lnTo>
                  <a:pt x="68987" y="212322"/>
                </a:lnTo>
                <a:lnTo>
                  <a:pt x="61995" y="185283"/>
                </a:lnTo>
                <a:lnTo>
                  <a:pt x="54531" y="158370"/>
                </a:lnTo>
                <a:lnTo>
                  <a:pt x="46599" y="131592"/>
                </a:lnTo>
                <a:lnTo>
                  <a:pt x="38201" y="104956"/>
                </a:lnTo>
                <a:lnTo>
                  <a:pt x="29339" y="78471"/>
                </a:lnTo>
                <a:lnTo>
                  <a:pt x="20016" y="52144"/>
                </a:lnTo>
                <a:lnTo>
                  <a:pt x="10235" y="25985"/>
                </a:lnTo>
                <a:lnTo>
                  <a:pt x="0" y="0"/>
                </a:lnTo>
              </a:path>
            </a:pathLst>
          </a:custGeom>
          <a:noFill/>
          <a:ln w="31750">
            <a:solidFill>
              <a:srgbClr val="15803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548640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1F2937"/>
                </a:solidFill>
                <a:latin typeface="Calibri"/>
              </a:rPr>
              <a:t>Every drone moves the same way round. Order never changes.</a:t>
            </a:r>
          </a:p>
        </p:txBody>
      </p:sp>
      <p:sp>
        <p:nvSpPr>
          <p:cNvPr id="44" name="Oval 43"/>
          <p:cNvSpPr/>
          <p:nvPr/>
        </p:nvSpPr>
        <p:spPr>
          <a:xfrm>
            <a:off x="8861268" y="227758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124615" y="227758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861268" y="2540935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124615" y="2540935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001719" y="2418039"/>
            <a:ext cx="193121" cy="193121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713022" y="426640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976369" y="426640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713022" y="4529755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976369" y="4529755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853474" y="4406859"/>
            <a:ext cx="193121" cy="193121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009513" y="426640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272860" y="426640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009513" y="4529755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272860" y="4529755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0149965" y="4406859"/>
            <a:ext cx="193121" cy="193121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Resting ring vs. blocking wall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When the attacker comes close, one defender moves onto its line and the other two close up beside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417320"/>
            <a:ext cx="5486400" cy="4526280"/>
          </a:xfrm>
          <a:prstGeom prst="roundRect">
            <a:avLst>
              <a:gd name="adj" fmla="val 2424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At rest</a:t>
            </a:r>
          </a:p>
        </p:txBody>
      </p:sp>
      <p:sp>
        <p:nvSpPr>
          <p:cNvPr id="6" name="Oval 5"/>
          <p:cNvSpPr/>
          <p:nvPr/>
        </p:nvSpPr>
        <p:spPr>
          <a:xfrm>
            <a:off x="1874520" y="2423160"/>
            <a:ext cx="2377440" cy="2377440"/>
          </a:xfrm>
          <a:prstGeom prst="ellipse">
            <a:avLst/>
          </a:prstGeom>
          <a:noFill/>
          <a:ln w="15875">
            <a:solidFill>
              <a:srgbClr val="94A3B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095225" y="3752614"/>
            <a:ext cx="1581350" cy="579767"/>
          </a:xfrm>
          <a:prstGeom prst="line">
            <a:avLst/>
          </a:prstGeom>
          <a:ln w="19050">
            <a:solidFill>
              <a:srgbClr val="DC2626"/>
            </a:solidFill>
            <a:prstDash val="dash"/>
          </a:ln>
        </p:spPr>
      </p:cxnSp>
      <p:sp>
        <p:nvSpPr>
          <p:cNvPr id="8" name="Freeform 7"/>
          <p:cNvSpPr/>
          <p:nvPr/>
        </p:nvSpPr>
        <p:spPr>
          <a:xfrm>
            <a:off x="2468880" y="3611880"/>
            <a:ext cx="1783080" cy="1029462"/>
          </a:xfrm>
          <a:custGeom>
            <a:avLst/>
            <a:gdLst/>
            <a:ahLst/>
            <a:cxnLst/>
            <a:rect l="l" t="t" r="r" b="b"/>
            <a:pathLst>
              <a:path w="1783080" h="1029462">
                <a:moveTo>
                  <a:pt x="0" y="1029462"/>
                </a:moveTo>
                <a:lnTo>
                  <a:pt x="1783080" y="0"/>
                </a:lnTo>
              </a:path>
            </a:pathLst>
          </a:custGeom>
          <a:noFill/>
          <a:ln w="15875">
            <a:solidFill>
              <a:srgbClr val="CBD5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2468880" y="2582418"/>
            <a:ext cx="1783080" cy="1029462"/>
          </a:xfrm>
          <a:custGeom>
            <a:avLst/>
            <a:gdLst/>
            <a:ahLst/>
            <a:cxnLst/>
            <a:rect l="l" t="t" r="r" b="b"/>
            <a:pathLst>
              <a:path w="1783080" h="1029462">
                <a:moveTo>
                  <a:pt x="1783080" y="1029462"/>
                </a:moveTo>
                <a:lnTo>
                  <a:pt x="0" y="0"/>
                </a:lnTo>
              </a:path>
            </a:pathLst>
          </a:custGeom>
          <a:noFill/>
          <a:ln w="15875">
            <a:solidFill>
              <a:srgbClr val="CBD5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2468880" y="2582418"/>
            <a:ext cx="0" cy="2058924"/>
          </a:xfrm>
          <a:custGeom>
            <a:avLst/>
            <a:gdLst/>
            <a:ahLst/>
            <a:cxnLst/>
            <a:rect l="l" t="t" r="r" b="b"/>
            <a:pathLst>
              <a:path w="0" h="2058924">
                <a:moveTo>
                  <a:pt x="0" y="0"/>
                </a:moveTo>
                <a:lnTo>
                  <a:pt x="0" y="2058924"/>
                </a:lnTo>
              </a:path>
            </a:pathLst>
          </a:custGeom>
          <a:noFill/>
          <a:ln w="15875">
            <a:solidFill>
              <a:srgbClr val="CBD5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66060" y="2950845"/>
            <a:ext cx="1188720" cy="292608"/>
          </a:xfrm>
          <a:prstGeom prst="roundRect">
            <a:avLst>
              <a:gd name="adj" fmla="val 375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gap 1.73 m</a:t>
            </a:r>
          </a:p>
        </p:txBody>
      </p:sp>
      <p:sp>
        <p:nvSpPr>
          <p:cNvPr id="12" name="Oval 11"/>
          <p:cNvSpPr/>
          <p:nvPr/>
        </p:nvSpPr>
        <p:spPr>
          <a:xfrm>
            <a:off x="2231868" y="4404329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95215" y="4404329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231868" y="4667676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95215" y="4667676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372319" y="4544781"/>
            <a:ext cx="193121" cy="193121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014948" y="337486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78295" y="337486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014948" y="3638215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278295" y="3638215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155399" y="3515319"/>
            <a:ext cx="193121" cy="193121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231868" y="2345406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495215" y="2345406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231868" y="2608753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495215" y="2608753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372319" y="2485858"/>
            <a:ext cx="193121" cy="193121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766974" y="3315614"/>
            <a:ext cx="263347" cy="2633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096158" y="3315614"/>
            <a:ext cx="263347" cy="2633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66974" y="3644798"/>
            <a:ext cx="263347" cy="2633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096158" y="3644798"/>
            <a:ext cx="263347" cy="2633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942539" y="3491179"/>
            <a:ext cx="241402" cy="241402"/>
          </a:xfrm>
          <a:prstGeom prst="roundRect">
            <a:avLst/>
          </a:prstGeom>
          <a:solidFill>
            <a:srgbClr val="D97706"/>
          </a:solidFill>
          <a:ln w="15875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1053" y="414108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84400" y="414108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21053" y="4404436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4400" y="4404436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61505" y="4281540"/>
            <a:ext cx="193121" cy="193121"/>
          </a:xfrm>
          <a:prstGeom prst="roundRect">
            <a:avLst/>
          </a:prstGeom>
          <a:solidFill>
            <a:srgbClr val="DC2626"/>
          </a:solidFill>
          <a:ln w="15875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48640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1F2937"/>
                </a:solidFill>
                <a:latin typeface="Calibri"/>
              </a:rPr>
              <a:t>Three drones 120° apart: big gaps, but nothing to block yet.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5080" y="1417320"/>
            <a:ext cx="5486400" cy="4526280"/>
          </a:xfrm>
          <a:prstGeom prst="roundRect">
            <a:avLst>
              <a:gd name="adj" fmla="val 2424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15544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Blocking</a:t>
            </a:r>
          </a:p>
        </p:txBody>
      </p:sp>
      <p:sp>
        <p:nvSpPr>
          <p:cNvPr id="40" name="Oval 39"/>
          <p:cNvSpPr/>
          <p:nvPr/>
        </p:nvSpPr>
        <p:spPr>
          <a:xfrm>
            <a:off x="7909560" y="2423160"/>
            <a:ext cx="2377440" cy="2377440"/>
          </a:xfrm>
          <a:prstGeom prst="ellipse">
            <a:avLst/>
          </a:prstGeom>
          <a:noFill/>
          <a:ln w="15875">
            <a:solidFill>
              <a:srgbClr val="94A3B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 flipV="1">
            <a:off x="7130265" y="3752614"/>
            <a:ext cx="1581350" cy="579767"/>
          </a:xfrm>
          <a:prstGeom prst="line">
            <a:avLst/>
          </a:prstGeom>
          <a:ln w="19050">
            <a:solidFill>
              <a:srgbClr val="DC2626"/>
            </a:solidFill>
            <a:prstDash val="dash"/>
          </a:ln>
        </p:spPr>
      </p:cxnSp>
      <p:sp>
        <p:nvSpPr>
          <p:cNvPr id="42" name="Oval 41"/>
          <p:cNvSpPr/>
          <p:nvPr/>
        </p:nvSpPr>
        <p:spPr>
          <a:xfrm>
            <a:off x="7744236" y="3781434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07583" y="3781434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744236" y="4044781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007583" y="4044781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884688" y="3921886"/>
            <a:ext cx="193121" cy="193121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66849" y="3472001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1" i="0">
                <a:solidFill>
                  <a:srgbClr val="1D4ED8"/>
                </a:solidFill>
                <a:latin typeface="Calibri"/>
              </a:rPr>
              <a:t>blocker</a:t>
            </a:r>
          </a:p>
        </p:txBody>
      </p:sp>
      <p:sp>
        <p:nvSpPr>
          <p:cNvPr id="48" name="Oval 47"/>
          <p:cNvSpPr/>
          <p:nvPr/>
        </p:nvSpPr>
        <p:spPr>
          <a:xfrm>
            <a:off x="8614119" y="4537611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877466" y="4537611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614119" y="480095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877466" y="480095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754571" y="4678063"/>
            <a:ext cx="193121" cy="193121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36731" y="504674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D4ED8"/>
                </a:solidFill>
                <a:latin typeface="Calibri"/>
              </a:rPr>
              <a:t>wing</a:t>
            </a:r>
          </a:p>
        </p:txBody>
      </p:sp>
      <p:sp>
        <p:nvSpPr>
          <p:cNvPr id="54" name="Oval 53"/>
          <p:cNvSpPr/>
          <p:nvPr/>
        </p:nvSpPr>
        <p:spPr>
          <a:xfrm>
            <a:off x="7924543" y="264301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187891" y="264301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924543" y="2906366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187891" y="2906366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064995" y="2783470"/>
            <a:ext cx="193121" cy="193121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47156" y="2333585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1" i="0">
                <a:solidFill>
                  <a:srgbClr val="1D4ED8"/>
                </a:solidFill>
                <a:latin typeface="Calibri"/>
              </a:rPr>
              <a:t>wing</a:t>
            </a:r>
          </a:p>
        </p:txBody>
      </p:sp>
      <p:sp>
        <p:nvSpPr>
          <p:cNvPr id="60" name="Oval 59"/>
          <p:cNvSpPr/>
          <p:nvPr/>
        </p:nvSpPr>
        <p:spPr>
          <a:xfrm>
            <a:off x="8802014" y="3315614"/>
            <a:ext cx="263347" cy="2633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131198" y="3315614"/>
            <a:ext cx="263347" cy="2633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802014" y="3644798"/>
            <a:ext cx="263347" cy="2633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131198" y="3644798"/>
            <a:ext cx="263347" cy="2633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977579" y="3491179"/>
            <a:ext cx="241402" cy="241402"/>
          </a:xfrm>
          <a:prstGeom prst="roundRect">
            <a:avLst/>
          </a:prstGeom>
          <a:solidFill>
            <a:srgbClr val="D97706"/>
          </a:solidFill>
          <a:ln w="15875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756093" y="414108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019440" y="414108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756093" y="4404436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019440" y="4404436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6896545" y="4281540"/>
            <a:ext cx="193121" cy="193121"/>
          </a:xfrm>
          <a:prstGeom prst="roundRect">
            <a:avLst/>
          </a:prstGeom>
          <a:solidFill>
            <a:srgbClr val="DC2626"/>
          </a:solidFill>
          <a:ln w="15875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37960" y="548640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1F2937"/>
                </a:solidFill>
                <a:latin typeface="Calibri"/>
              </a:rPr>
              <a:t>Blocker (white light) on the line; wings (violet) close the gaps.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When does the ring start blocking?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Two distances, not one, so the ring cannot flicker between modes. Drawn to scale.</a:t>
            </a:r>
          </a:p>
        </p:txBody>
      </p:sp>
      <p:sp>
        <p:nvSpPr>
          <p:cNvPr id="4" name="Oval 3"/>
          <p:cNvSpPr/>
          <p:nvPr/>
        </p:nvSpPr>
        <p:spPr>
          <a:xfrm>
            <a:off x="957377" y="1551737"/>
            <a:ext cx="4668926" cy="4668926"/>
          </a:xfrm>
          <a:prstGeom prst="ellipse">
            <a:avLst/>
          </a:prstGeom>
          <a:noFill/>
          <a:ln w="19050">
            <a:solidFill>
              <a:srgbClr val="6B728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3564" y="1677924"/>
            <a:ext cx="4416552" cy="4416552"/>
          </a:xfrm>
          <a:prstGeom prst="ellipse">
            <a:avLst/>
          </a:prstGeom>
          <a:solidFill>
            <a:srgbClr val="FEF3C7"/>
          </a:solidFill>
          <a:ln w="25400">
            <a:solidFill>
              <a:srgbClr val="B4530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40280" y="2834640"/>
            <a:ext cx="2103120" cy="21031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044952" y="3639312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19272" y="3639312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044952" y="3913632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319272" y="3913632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191256" y="3785616"/>
            <a:ext cx="201168" cy="201168"/>
          </a:xfrm>
          <a:prstGeom prst="roundRect">
            <a:avLst/>
          </a:prstGeom>
          <a:solidFill>
            <a:srgbClr val="D97706"/>
          </a:solidFill>
          <a:ln w="15875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23956" y="2666756"/>
            <a:ext cx="149230" cy="1492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310494" y="2666756"/>
            <a:ext cx="149230" cy="1492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23956" y="2853294"/>
            <a:ext cx="149230" cy="1492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310494" y="2853294"/>
            <a:ext cx="149230" cy="1492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23443" y="2766243"/>
            <a:ext cx="136794" cy="136794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213278" y="4244096"/>
            <a:ext cx="149230" cy="1492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99816" y="4244096"/>
            <a:ext cx="149230" cy="1492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213278" y="4430634"/>
            <a:ext cx="149230" cy="1492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399816" y="4430634"/>
            <a:ext cx="149230" cy="1492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312765" y="4343583"/>
            <a:ext cx="136794" cy="136794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34634" y="4244096"/>
            <a:ext cx="149230" cy="1492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21171" y="4244096"/>
            <a:ext cx="149230" cy="1492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034634" y="4430634"/>
            <a:ext cx="149230" cy="1492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221171" y="4430634"/>
            <a:ext cx="149230" cy="1492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134121" y="4343583"/>
            <a:ext cx="136794" cy="136794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6583680" y="1901952"/>
            <a:ext cx="548640" cy="0"/>
          </a:xfrm>
          <a:custGeom>
            <a:avLst/>
            <a:gdLst/>
            <a:ahLst/>
            <a:cxnLst/>
            <a:rect l="l" t="t" r="r" b="b"/>
            <a:pathLst>
              <a:path w="548640" h="0">
                <a:moveTo>
                  <a:pt x="0" y="0"/>
                </a:moveTo>
                <a:lnTo>
                  <a:pt x="548640" y="0"/>
                </a:lnTo>
              </a:path>
            </a:pathLst>
          </a:custGeom>
          <a:noFill/>
          <a:ln w="31750">
            <a:solidFill>
              <a:srgbClr val="1D4ED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173736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D4ED8"/>
                </a:solidFill>
                <a:latin typeface="Calibri"/>
              </a:rPr>
              <a:t>Ring, 1.0 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2084832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Where the defenders fly.</a:t>
            </a:r>
          </a:p>
        </p:txBody>
      </p:sp>
      <p:sp>
        <p:nvSpPr>
          <p:cNvPr id="30" name="Freeform 29"/>
          <p:cNvSpPr/>
          <p:nvPr/>
        </p:nvSpPr>
        <p:spPr>
          <a:xfrm>
            <a:off x="6583680" y="2999232"/>
            <a:ext cx="548640" cy="0"/>
          </a:xfrm>
          <a:custGeom>
            <a:avLst/>
            <a:gdLst/>
            <a:ahLst/>
            <a:cxnLst/>
            <a:rect l="l" t="t" r="r" b="b"/>
            <a:pathLst>
              <a:path w="548640" h="0">
                <a:moveTo>
                  <a:pt x="0" y="0"/>
                </a:moveTo>
                <a:lnTo>
                  <a:pt x="548640" y="0"/>
                </a:lnTo>
              </a:path>
            </a:pathLst>
          </a:custGeom>
          <a:noFill/>
          <a:ln w="31750">
            <a:solidFill>
              <a:srgbClr val="B4530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283464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B45309"/>
                </a:solidFill>
                <a:latin typeface="Calibri"/>
              </a:rPr>
              <a:t>Alert line, 2.10 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3182112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Attacker crosses inside: blocking STARTS.</a:t>
            </a:r>
          </a:p>
        </p:txBody>
      </p:sp>
      <p:sp>
        <p:nvSpPr>
          <p:cNvPr id="33" name="Freeform 32"/>
          <p:cNvSpPr/>
          <p:nvPr/>
        </p:nvSpPr>
        <p:spPr>
          <a:xfrm>
            <a:off x="6583680" y="4096512"/>
            <a:ext cx="548640" cy="0"/>
          </a:xfrm>
          <a:custGeom>
            <a:avLst/>
            <a:gdLst/>
            <a:ahLst/>
            <a:cxnLst/>
            <a:rect l="l" t="t" r="r" b="b"/>
            <a:pathLst>
              <a:path w="548640" h="0">
                <a:moveTo>
                  <a:pt x="0" y="0"/>
                </a:moveTo>
                <a:lnTo>
                  <a:pt x="548640" y="0"/>
                </a:lnTo>
              </a:path>
            </a:pathLst>
          </a:custGeom>
          <a:noFill/>
          <a:ln w="31750">
            <a:solidFill>
              <a:srgbClr val="6B728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0" y="393192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6B7280"/>
                </a:solidFill>
                <a:latin typeface="Calibri"/>
              </a:rPr>
              <a:t>Release line, 2.22 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4279392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Attacker must get back out past this before blocking STOPS.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0" y="5074920"/>
            <a:ext cx="5120640" cy="1051560"/>
          </a:xfrm>
          <a:prstGeom prst="roundRect">
            <a:avLst>
              <a:gd name="adj" fmla="val 10434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Why so far out? The ring needs a few seconds to turn, so it has to start while the attacker is still out of reach. It was moved out after a test where the attacker got through.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The speed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Every defender is capped at 0.6 m/s. Turning the ring and following the VIP share that one budget.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488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1" i="0">
                <a:solidFill>
                  <a:srgbClr val="1F2937"/>
                </a:solidFill>
                <a:latin typeface="Calibri"/>
              </a:rPr>
              <a:t>Ring resting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0" y="2011680"/>
            <a:ext cx="4114800" cy="7772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turning the ring  0.30 m/s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2011680"/>
            <a:ext cx="4114800" cy="7772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following the VIP  0.30 m/s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1" i="0">
                <a:solidFill>
                  <a:srgbClr val="1F2937"/>
                </a:solidFill>
                <a:latin typeface="Calibri"/>
              </a:rPr>
              <a:t>Ring blocking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3246120"/>
            <a:ext cx="7543800" cy="7772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turning the ring  0.55 m/s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61320" y="3246120"/>
            <a:ext cx="685800" cy="7772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0.05</a:t>
            </a:r>
          </a:p>
        </p:txBody>
      </p:sp>
      <p:sp>
        <p:nvSpPr>
          <p:cNvPr id="10" name="Freeform 9"/>
          <p:cNvSpPr/>
          <p:nvPr/>
        </p:nvSpPr>
        <p:spPr>
          <a:xfrm>
            <a:off x="11247120" y="1828800"/>
            <a:ext cx="0" cy="2377440"/>
          </a:xfrm>
          <a:custGeom>
            <a:avLst/>
            <a:gdLst/>
            <a:ahLst/>
            <a:cxnLst/>
            <a:rect l="l" t="t" r="r" b="b"/>
            <a:pathLst>
              <a:path w="0" h="2377440">
                <a:moveTo>
                  <a:pt x="0" y="0"/>
                </a:moveTo>
                <a:lnTo>
                  <a:pt x="0" y="2377440"/>
                </a:lnTo>
              </a:path>
            </a:pathLst>
          </a:custGeom>
          <a:noFill/>
          <a:ln w="317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0" y="4251960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DC2626"/>
                </a:solidFill>
                <a:latin typeface="Calibri"/>
              </a:rPr>
              <a:t>limit 0.60 m/s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800600"/>
            <a:ext cx="11247120" cy="1234440"/>
          </a:xfrm>
          <a:prstGeom prst="roundRect">
            <a:avLst>
              <a:gd name="adj" fmla="val 8888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 lIns="228600" rIns="228600"/>
          <a:lstStyle/>
          <a:p>
            <a:pPr algn="l"/>
            <a:r>
              <a:rPr sz="1500" b="1" i="0">
                <a:solidFill>
                  <a:srgbClr val="1F2937"/>
                </a:solidFill>
                <a:latin typeface="Calibri"/>
              </a:rPr>
              <a:t>While blocking, only 0.05 m/s is left for following the VIP.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So the pilot is briefed to hold the DJI still while the attacker is pressing. Small drifts before and after are fine.</a:t>
            </a:r>
          </a:p>
          <a:p>
            <a:pPr algn="l">
              <a:spcBef>
                <a:spcPts val="600"/>
              </a:spcBef>
            </a:pPr>
            <a:r>
              <a:rPr sz="1500" b="0" i="0">
                <a:solidFill>
                  <a:srgbClr val="6B7280"/>
                </a:solidFill>
                <a:latin typeface="Calibri"/>
              </a:rPr>
              <a:t>To give the VIP more room you must turn the ring more slowly, shrink the ring, or let the drones fly faster near people. Each has a cost.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Why the defenders can win: the inside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Both sides race for the same direction around the VIP. The defenders run the shorter circle.</a:t>
            </a:r>
          </a:p>
        </p:txBody>
      </p:sp>
      <p:sp>
        <p:nvSpPr>
          <p:cNvPr id="4" name="Freeform 3"/>
          <p:cNvSpPr/>
          <p:nvPr/>
        </p:nvSpPr>
        <p:spPr>
          <a:xfrm>
            <a:off x="3566160" y="1966448"/>
            <a:ext cx="1778658" cy="1828312"/>
          </a:xfrm>
          <a:custGeom>
            <a:avLst/>
            <a:gdLst/>
            <a:ahLst/>
            <a:cxnLst/>
            <a:rect l="l" t="t" r="r" b="b"/>
            <a:pathLst>
              <a:path w="1778658" h="1828312">
                <a:moveTo>
                  <a:pt x="0" y="1828312"/>
                </a:moveTo>
                <a:lnTo>
                  <a:pt x="1778658" y="1180934"/>
                </a:lnTo>
                <a:lnTo>
                  <a:pt x="1757036" y="1124362"/>
                </a:lnTo>
                <a:lnTo>
                  <a:pt x="1733616" y="1068510"/>
                </a:lnTo>
                <a:lnTo>
                  <a:pt x="1708421" y="1013437"/>
                </a:lnTo>
                <a:lnTo>
                  <a:pt x="1681476" y="959198"/>
                </a:lnTo>
                <a:lnTo>
                  <a:pt x="1652811" y="905849"/>
                </a:lnTo>
                <a:lnTo>
                  <a:pt x="1622453" y="853444"/>
                </a:lnTo>
                <a:lnTo>
                  <a:pt x="1590434" y="802037"/>
                </a:lnTo>
                <a:lnTo>
                  <a:pt x="1556787" y="751681"/>
                </a:lnTo>
                <a:lnTo>
                  <a:pt x="1521547" y="702427"/>
                </a:lnTo>
                <a:lnTo>
                  <a:pt x="1484748" y="654325"/>
                </a:lnTo>
                <a:lnTo>
                  <a:pt x="1446430" y="607426"/>
                </a:lnTo>
                <a:lnTo>
                  <a:pt x="1406630" y="561776"/>
                </a:lnTo>
                <a:lnTo>
                  <a:pt x="1365391" y="517423"/>
                </a:lnTo>
                <a:lnTo>
                  <a:pt x="1322754" y="474412"/>
                </a:lnTo>
                <a:lnTo>
                  <a:pt x="1278763" y="432788"/>
                </a:lnTo>
                <a:lnTo>
                  <a:pt x="1233462" y="392591"/>
                </a:lnTo>
                <a:lnTo>
                  <a:pt x="1186899" y="353865"/>
                </a:lnTo>
                <a:lnTo>
                  <a:pt x="1139120" y="316648"/>
                </a:lnTo>
                <a:lnTo>
                  <a:pt x="1090176" y="280979"/>
                </a:lnTo>
                <a:lnTo>
                  <a:pt x="1040115" y="246894"/>
                </a:lnTo>
                <a:lnTo>
                  <a:pt x="988989" y="214428"/>
                </a:lnTo>
                <a:lnTo>
                  <a:pt x="936851" y="183614"/>
                </a:lnTo>
                <a:lnTo>
                  <a:pt x="883754" y="154484"/>
                </a:lnTo>
                <a:lnTo>
                  <a:pt x="829752" y="127067"/>
                </a:lnTo>
                <a:lnTo>
                  <a:pt x="774901" y="101393"/>
                </a:lnTo>
                <a:lnTo>
                  <a:pt x="719256" y="77486"/>
                </a:lnTo>
                <a:lnTo>
                  <a:pt x="662875" y="55371"/>
                </a:lnTo>
                <a:lnTo>
                  <a:pt x="605816" y="35072"/>
                </a:lnTo>
                <a:lnTo>
                  <a:pt x="548136" y="16609"/>
                </a:lnTo>
                <a:lnTo>
                  <a:pt x="489895" y="0"/>
                </a:lnTo>
                <a:close/>
              </a:path>
            </a:pathLst>
          </a:custGeom>
          <a:solidFill>
            <a:srgbClr val="FEF9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73352" y="1901952"/>
            <a:ext cx="3785616" cy="3785616"/>
          </a:xfrm>
          <a:prstGeom prst="ellipse">
            <a:avLst/>
          </a:prstGeom>
          <a:noFill/>
          <a:ln w="19050">
            <a:solidFill>
              <a:srgbClr val="DC2626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14600" y="2743200"/>
            <a:ext cx="2103120" cy="2103120"/>
          </a:xfrm>
          <a:prstGeom prst="ellipse">
            <a:avLst/>
          </a:prstGeom>
          <a:noFill/>
          <a:ln w="19050">
            <a:solidFill>
              <a:srgbClr val="1D4ED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3838324" y="2779031"/>
            <a:ext cx="715979" cy="656074"/>
          </a:xfrm>
          <a:custGeom>
            <a:avLst/>
            <a:gdLst/>
            <a:ahLst/>
            <a:cxnLst/>
            <a:rect l="l" t="t" r="r" b="b"/>
            <a:pathLst>
              <a:path w="715979" h="656074">
                <a:moveTo>
                  <a:pt x="715979" y="656074"/>
                </a:moveTo>
                <a:lnTo>
                  <a:pt x="707064" y="632466"/>
                </a:lnTo>
                <a:lnTo>
                  <a:pt x="697586" y="609079"/>
                </a:lnTo>
                <a:lnTo>
                  <a:pt x="687548" y="585926"/>
                </a:lnTo>
                <a:lnTo>
                  <a:pt x="676959" y="563021"/>
                </a:lnTo>
                <a:lnTo>
                  <a:pt x="665822" y="540376"/>
                </a:lnTo>
                <a:lnTo>
                  <a:pt x="654145" y="518005"/>
                </a:lnTo>
                <a:lnTo>
                  <a:pt x="641935" y="495921"/>
                </a:lnTo>
                <a:lnTo>
                  <a:pt x="629199" y="474136"/>
                </a:lnTo>
                <a:lnTo>
                  <a:pt x="615943" y="452662"/>
                </a:lnTo>
                <a:lnTo>
                  <a:pt x="602176" y="431514"/>
                </a:lnTo>
                <a:lnTo>
                  <a:pt x="587906" y="410701"/>
                </a:lnTo>
                <a:lnTo>
                  <a:pt x="573140" y="390237"/>
                </a:lnTo>
                <a:lnTo>
                  <a:pt x="557887" y="370133"/>
                </a:lnTo>
                <a:lnTo>
                  <a:pt x="542156" y="350401"/>
                </a:lnTo>
                <a:lnTo>
                  <a:pt x="525957" y="331053"/>
                </a:lnTo>
                <a:lnTo>
                  <a:pt x="509297" y="312098"/>
                </a:lnTo>
                <a:lnTo>
                  <a:pt x="492188" y="293549"/>
                </a:lnTo>
                <a:lnTo>
                  <a:pt x="474639" y="275415"/>
                </a:lnTo>
                <a:lnTo>
                  <a:pt x="456659" y="257708"/>
                </a:lnTo>
                <a:lnTo>
                  <a:pt x="438260" y="240438"/>
                </a:lnTo>
                <a:lnTo>
                  <a:pt x="419451" y="223614"/>
                </a:lnTo>
                <a:lnTo>
                  <a:pt x="400244" y="207246"/>
                </a:lnTo>
                <a:lnTo>
                  <a:pt x="380651" y="191343"/>
                </a:lnTo>
                <a:lnTo>
                  <a:pt x="360681" y="175916"/>
                </a:lnTo>
                <a:lnTo>
                  <a:pt x="340346" y="160972"/>
                </a:lnTo>
                <a:lnTo>
                  <a:pt x="319659" y="146520"/>
                </a:lnTo>
                <a:lnTo>
                  <a:pt x="298631" y="132569"/>
                </a:lnTo>
                <a:lnTo>
                  <a:pt x="277275" y="119127"/>
                </a:lnTo>
                <a:lnTo>
                  <a:pt x="255602" y="106201"/>
                </a:lnTo>
                <a:lnTo>
                  <a:pt x="233625" y="93798"/>
                </a:lnTo>
                <a:lnTo>
                  <a:pt x="211356" y="81927"/>
                </a:lnTo>
                <a:lnTo>
                  <a:pt x="188810" y="70593"/>
                </a:lnTo>
                <a:lnTo>
                  <a:pt x="165997" y="59804"/>
                </a:lnTo>
                <a:lnTo>
                  <a:pt x="142933" y="49565"/>
                </a:lnTo>
                <a:lnTo>
                  <a:pt x="119629" y="39882"/>
                </a:lnTo>
                <a:lnTo>
                  <a:pt x="96100" y="30762"/>
                </a:lnTo>
                <a:lnTo>
                  <a:pt x="72359" y="22209"/>
                </a:lnTo>
                <a:lnTo>
                  <a:pt x="48419" y="14228"/>
                </a:lnTo>
                <a:lnTo>
                  <a:pt x="24295" y="6823"/>
                </a:lnTo>
                <a:lnTo>
                  <a:pt x="0" y="0"/>
                </a:lnTo>
              </a:path>
            </a:pathLst>
          </a:custGeom>
          <a:noFill/>
          <a:ln w="63500">
            <a:solidFill>
              <a:srgbClr val="1D4ED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4056055" y="1966448"/>
            <a:ext cx="1288763" cy="1180934"/>
          </a:xfrm>
          <a:custGeom>
            <a:avLst/>
            <a:gdLst/>
            <a:ahLst/>
            <a:cxnLst/>
            <a:rect l="l" t="t" r="r" b="b"/>
            <a:pathLst>
              <a:path w="1288763" h="1180934">
                <a:moveTo>
                  <a:pt x="1288763" y="1180934"/>
                </a:moveTo>
                <a:lnTo>
                  <a:pt x="1272716" y="1138439"/>
                </a:lnTo>
                <a:lnTo>
                  <a:pt x="1255654" y="1096342"/>
                </a:lnTo>
                <a:lnTo>
                  <a:pt x="1237587" y="1054667"/>
                </a:lnTo>
                <a:lnTo>
                  <a:pt x="1218526" y="1013437"/>
                </a:lnTo>
                <a:lnTo>
                  <a:pt x="1198480" y="972677"/>
                </a:lnTo>
                <a:lnTo>
                  <a:pt x="1177462" y="932409"/>
                </a:lnTo>
                <a:lnTo>
                  <a:pt x="1155484" y="892657"/>
                </a:lnTo>
                <a:lnTo>
                  <a:pt x="1132558" y="853444"/>
                </a:lnTo>
                <a:lnTo>
                  <a:pt x="1108698" y="814792"/>
                </a:lnTo>
                <a:lnTo>
                  <a:pt x="1083917" y="776724"/>
                </a:lnTo>
                <a:lnTo>
                  <a:pt x="1058230" y="739262"/>
                </a:lnTo>
                <a:lnTo>
                  <a:pt x="1031652" y="702427"/>
                </a:lnTo>
                <a:lnTo>
                  <a:pt x="1004197" y="666240"/>
                </a:lnTo>
                <a:lnTo>
                  <a:pt x="975882" y="630722"/>
                </a:lnTo>
                <a:lnTo>
                  <a:pt x="946722" y="595894"/>
                </a:lnTo>
                <a:lnTo>
                  <a:pt x="916735" y="561776"/>
                </a:lnTo>
                <a:lnTo>
                  <a:pt x="885939" y="528387"/>
                </a:lnTo>
                <a:lnTo>
                  <a:pt x="854350" y="495747"/>
                </a:lnTo>
                <a:lnTo>
                  <a:pt x="821986" y="463875"/>
                </a:lnTo>
                <a:lnTo>
                  <a:pt x="788868" y="432788"/>
                </a:lnTo>
                <a:lnTo>
                  <a:pt x="755012" y="402504"/>
                </a:lnTo>
                <a:lnTo>
                  <a:pt x="720440" y="373042"/>
                </a:lnTo>
                <a:lnTo>
                  <a:pt x="685171" y="344418"/>
                </a:lnTo>
                <a:lnTo>
                  <a:pt x="649225" y="316648"/>
                </a:lnTo>
                <a:lnTo>
                  <a:pt x="612623" y="289749"/>
                </a:lnTo>
                <a:lnTo>
                  <a:pt x="575387" y="263736"/>
                </a:lnTo>
                <a:lnTo>
                  <a:pt x="537536" y="238624"/>
                </a:lnTo>
                <a:lnTo>
                  <a:pt x="499094" y="214428"/>
                </a:lnTo>
                <a:lnTo>
                  <a:pt x="460083" y="191161"/>
                </a:lnTo>
                <a:lnTo>
                  <a:pt x="420524" y="168837"/>
                </a:lnTo>
                <a:lnTo>
                  <a:pt x="380442" y="147468"/>
                </a:lnTo>
                <a:lnTo>
                  <a:pt x="339857" y="127067"/>
                </a:lnTo>
                <a:lnTo>
                  <a:pt x="298795" y="107647"/>
                </a:lnTo>
                <a:lnTo>
                  <a:pt x="257279" y="89217"/>
                </a:lnTo>
                <a:lnTo>
                  <a:pt x="215333" y="71788"/>
                </a:lnTo>
                <a:lnTo>
                  <a:pt x="172980" y="55371"/>
                </a:lnTo>
                <a:lnTo>
                  <a:pt x="130246" y="39976"/>
                </a:lnTo>
                <a:lnTo>
                  <a:pt x="87155" y="25610"/>
                </a:lnTo>
                <a:lnTo>
                  <a:pt x="43731" y="12282"/>
                </a:lnTo>
                <a:lnTo>
                  <a:pt x="0" y="0"/>
                </a:lnTo>
              </a:path>
            </a:pathLst>
          </a:custGeom>
          <a:noFill/>
          <a:ln w="63500">
            <a:solidFill>
              <a:srgbClr val="DC262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566160" y="3147382"/>
            <a:ext cx="1778658" cy="647378"/>
          </a:xfrm>
          <a:custGeom>
            <a:avLst/>
            <a:gdLst/>
            <a:ahLst/>
            <a:cxnLst/>
            <a:rect l="l" t="t" r="r" b="b"/>
            <a:pathLst>
              <a:path w="1778658" h="647378">
                <a:moveTo>
                  <a:pt x="0" y="647378"/>
                </a:moveTo>
                <a:lnTo>
                  <a:pt x="1778658" y="0"/>
                </a:lnTo>
              </a:path>
            </a:pathLst>
          </a:custGeom>
          <a:noFill/>
          <a:ln w="12700">
            <a:solidFill>
              <a:srgbClr val="94A3B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3566160" y="1966448"/>
            <a:ext cx="489895" cy="1828312"/>
          </a:xfrm>
          <a:custGeom>
            <a:avLst/>
            <a:gdLst/>
            <a:ahLst/>
            <a:cxnLst/>
            <a:rect l="l" t="t" r="r" b="b"/>
            <a:pathLst>
              <a:path w="489895" h="1828312">
                <a:moveTo>
                  <a:pt x="0" y="1828312"/>
                </a:moveTo>
                <a:lnTo>
                  <a:pt x="489895" y="0"/>
                </a:lnTo>
              </a:path>
            </a:pathLst>
          </a:custGeom>
          <a:noFill/>
          <a:ln w="12700">
            <a:solidFill>
              <a:srgbClr val="94A3B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19272" y="3547872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93592" y="3547872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319272" y="3822192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93592" y="3822192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65576" y="3694176"/>
            <a:ext cx="201168" cy="201168"/>
          </a:xfrm>
          <a:prstGeom prst="roundRect">
            <a:avLst/>
          </a:prstGeom>
          <a:solidFill>
            <a:srgbClr val="D97706"/>
          </a:solidFill>
          <a:ln w="15875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56793" y="3237595"/>
            <a:ext cx="175565" cy="17556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76249" y="3237595"/>
            <a:ext cx="175565" cy="17556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56793" y="3457051"/>
            <a:ext cx="175565" cy="17556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76249" y="3457051"/>
            <a:ext cx="175565" cy="17556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73836" y="3354638"/>
            <a:ext cx="160934" cy="160934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47307" y="2949871"/>
            <a:ext cx="175565" cy="17556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366763" y="2949871"/>
            <a:ext cx="175565" cy="17556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47307" y="3169327"/>
            <a:ext cx="175565" cy="17556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66763" y="3169327"/>
            <a:ext cx="175565" cy="17556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264351" y="3066914"/>
            <a:ext cx="160934" cy="160934"/>
          </a:xfrm>
          <a:prstGeom prst="roundRect">
            <a:avLst/>
          </a:prstGeom>
          <a:solidFill>
            <a:srgbClr val="DC2626"/>
          </a:solidFill>
          <a:ln w="15875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0" y="49377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D4ED8"/>
                </a:solidFill>
                <a:latin typeface="Calibri"/>
              </a:rPr>
              <a:t>defenders: 1.0 m from VIP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15544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DC2626"/>
                </a:solidFill>
                <a:latin typeface="Calibri"/>
              </a:rPr>
              <a:t>attacker held ~1.8 m 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1645920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2937"/>
                </a:solidFill>
                <a:latin typeface="Calibri"/>
              </a:rPr>
              <a:t>Same angle, shorter trip.</a:t>
            </a:r>
          </a:p>
          <a:p>
            <a:pPr algn="l">
              <a:spcBef>
                <a:spcPts val="600"/>
              </a:spcBef>
            </a:pPr>
            <a:r>
              <a:rPr sz="1500" b="0" i="0">
                <a:solidFill>
                  <a:srgbClr val="1F2937"/>
                </a:solidFill>
                <a:latin typeface="Calibri"/>
              </a:rPr>
              <a:t>To swing the same angle around the VIP, the attacker has to fly about 1.8× further than a defender.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315468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4ED8"/>
                </a:solidFill>
                <a:latin typeface="Calibri"/>
              </a:rPr>
              <a:t>0.55 rad/s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3209544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how fast the ring may turn while blocking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02336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DC2626"/>
                </a:solidFill>
                <a:latin typeface="Calibri"/>
              </a:rPr>
              <a:t>0.33 rad/s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4078224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how fast the attacker can circle at its 0.6 m/s limit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8920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45309"/>
                </a:solidFill>
                <a:latin typeface="Calibri"/>
              </a:rPr>
              <a:t>~1.0 m/s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4946904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attacker speed at which it would start to win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The attacker is no faster than a defender (both are capped at 0.6 m/s). The defenders win on geometry, not on speed.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Layers of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No single check is trusted. Each layer catches what the one before it can miss.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3611880" cy="4572000"/>
          </a:xfrm>
          <a:prstGeom prst="roundRect">
            <a:avLst>
              <a:gd name="adj" fmla="val 3037"/>
            </a:avLst>
          </a:prstGeom>
          <a:solidFill>
            <a:srgbClr val="DCFCE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5803D"/>
                </a:solidFill>
                <a:latin typeface="Calibri"/>
              </a:rPr>
              <a:t>Before take-off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38528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can still be fixed by moving a drone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2542032"/>
            <a:ext cx="128016" cy="128016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2880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plan_escort checks the whole plan fits the room and keeps every distance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3410712"/>
            <a:ext cx="128016" cy="128016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337560"/>
            <a:ext cx="2880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the take-off paths are checked for near misses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4279392"/>
            <a:ext cx="128016" cy="128016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06240"/>
            <a:ext cx="2880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every drone is tracked, on its floor mark, and able to arm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87368" y="3657600"/>
            <a:ext cx="192024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</p:cxnSp>
      <p:sp>
        <p:nvSpPr>
          <p:cNvPr id="14" name="Rounded Rectangle 13"/>
          <p:cNvSpPr/>
          <p:nvPr/>
        </p:nvSpPr>
        <p:spPr>
          <a:xfrm>
            <a:off x="4297680" y="1417320"/>
            <a:ext cx="3611880" cy="4572000"/>
          </a:xfrm>
          <a:prstGeom prst="roundRect">
            <a:avLst>
              <a:gd name="adj" fmla="val 3037"/>
            </a:avLst>
          </a:prstGeom>
          <a:solidFill>
            <a:srgbClr val="DBEAF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5544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D4ED8"/>
                </a:solidFill>
                <a:latin typeface="Calibri"/>
              </a:rPr>
              <a:t>In flight, every 1/20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938528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automatic</a:t>
            </a:r>
          </a:p>
        </p:txBody>
      </p:sp>
      <p:sp>
        <p:nvSpPr>
          <p:cNvPr id="17" name="Oval 16"/>
          <p:cNvSpPr/>
          <p:nvPr/>
        </p:nvSpPr>
        <p:spPr>
          <a:xfrm>
            <a:off x="4553712" y="2542032"/>
            <a:ext cx="128016" cy="12801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2468880"/>
            <a:ext cx="2880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every command is limited in speed, spacing and room</a:t>
            </a:r>
          </a:p>
        </p:txBody>
      </p:sp>
      <p:sp>
        <p:nvSpPr>
          <p:cNvPr id="19" name="Oval 18"/>
          <p:cNvSpPr/>
          <p:nvPr/>
        </p:nvSpPr>
        <p:spPr>
          <a:xfrm>
            <a:off x="4553712" y="3410712"/>
            <a:ext cx="128016" cy="12801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3337560"/>
            <a:ext cx="2880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each drone’s REAL position is watched: lost tracking → hold, then land</a:t>
            </a:r>
          </a:p>
        </p:txBody>
      </p:sp>
      <p:sp>
        <p:nvSpPr>
          <p:cNvPr id="21" name="Oval 20"/>
          <p:cNvSpPr/>
          <p:nvPr/>
        </p:nvSpPr>
        <p:spPr>
          <a:xfrm>
            <a:off x="4553712" y="4279392"/>
            <a:ext cx="128016" cy="12801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600" y="4206240"/>
            <a:ext cx="2880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VIP lost → the ring holds, then lands</a:t>
            </a:r>
          </a:p>
        </p:txBody>
      </p:sp>
      <p:sp>
        <p:nvSpPr>
          <p:cNvPr id="23" name="Oval 22"/>
          <p:cNvSpPr/>
          <p:nvPr/>
        </p:nvSpPr>
        <p:spPr>
          <a:xfrm>
            <a:off x="4553712" y="5148072"/>
            <a:ext cx="128016" cy="12801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5074920"/>
            <a:ext cx="2880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VIP flown out of its box → the ring parks (cyan) and waits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927848" y="3657600"/>
            <a:ext cx="192024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</p:cxnSp>
      <p:sp>
        <p:nvSpPr>
          <p:cNvPr id="26" name="Rounded Rectangle 25"/>
          <p:cNvSpPr/>
          <p:nvPr/>
        </p:nvSpPr>
        <p:spPr>
          <a:xfrm>
            <a:off x="8138160" y="1417320"/>
            <a:ext cx="3611880" cy="4572000"/>
          </a:xfrm>
          <a:prstGeom prst="roundRect">
            <a:avLst>
              <a:gd name="adj" fmla="val 3037"/>
            </a:avLst>
          </a:prstGeom>
          <a:solidFill>
            <a:srgbClr val="FEE2E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15544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DC2626"/>
                </a:solidFill>
                <a:latin typeface="Calibri"/>
              </a:rPr>
              <a:t>Ways 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1938528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a human decides</a:t>
            </a:r>
          </a:p>
        </p:txBody>
      </p:sp>
      <p:sp>
        <p:nvSpPr>
          <p:cNvPr id="29" name="Oval 28"/>
          <p:cNvSpPr/>
          <p:nvPr/>
        </p:nvSpPr>
        <p:spPr>
          <a:xfrm>
            <a:off x="8394192" y="2542032"/>
            <a:ext cx="128016" cy="12801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1080" y="2468880"/>
            <a:ext cx="2880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Ctrl-C or Abort: stop, land, switch off. A controlled landing.</a:t>
            </a:r>
          </a:p>
        </p:txBody>
      </p:sp>
      <p:sp>
        <p:nvSpPr>
          <p:cNvPr id="31" name="Oval 30"/>
          <p:cNvSpPr/>
          <p:nvPr/>
        </p:nvSpPr>
        <p:spPr>
          <a:xfrm>
            <a:off x="8394192" y="3410712"/>
            <a:ext cx="128016" cy="12801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41080" y="3337560"/>
            <a:ext cx="2880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E-STOP: motors off instantly. The drones drop. Needs a battery re-plug after.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The show, step by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Operator-paced: nothing advances until someone presses Enter. The defence never waits.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00200"/>
            <a:ext cx="1298448" cy="3291840"/>
          </a:xfrm>
          <a:prstGeom prst="roundRect">
            <a:avLst>
              <a:gd name="adj" fmla="val 845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1728216"/>
            <a:ext cx="365760" cy="36576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194560"/>
            <a:ext cx="11155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788920"/>
            <a:ext cx="1078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Placement, tracking and arming are verified.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029200"/>
            <a:ext cx="1298448" cy="594360"/>
          </a:xfrm>
          <a:prstGeom prst="roundRect">
            <a:avLst>
              <a:gd name="adj" fmla="val 18461"/>
            </a:avLst>
          </a:prstGeom>
          <a:solidFill>
            <a:srgbClr val="E0E7FF"/>
          </a:solidFill>
          <a:ln>
            <a:noFill/>
          </a:ln>
          <a:effectLst/>
        </p:spPr>
        <p:txBody>
          <a:bodyPr rtlCol="0" anchor="ctr" wrap="square" lIns="45720" rIns="45720"/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Enter: arm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55648" y="3246120"/>
            <a:ext cx="118872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10" name="Rounded Rectangle 9"/>
          <p:cNvSpPr/>
          <p:nvPr/>
        </p:nvSpPr>
        <p:spPr>
          <a:xfrm>
            <a:off x="1874520" y="1600200"/>
            <a:ext cx="1298448" cy="3291840"/>
          </a:xfrm>
          <a:prstGeom prst="roundRect">
            <a:avLst>
              <a:gd name="adj" fmla="val 845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84248" y="1728216"/>
            <a:ext cx="365760" cy="36576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84248" y="2194560"/>
            <a:ext cx="11155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Take 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84248" y="2788920"/>
            <a:ext cx="1078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Drones lift and form the ring, parked high for the DJI.</a:t>
            </a:r>
          </a:p>
        </p:txBody>
      </p:sp>
      <p:sp>
        <p:nvSpPr>
          <p:cNvPr id="14" name="Oval 13"/>
          <p:cNvSpPr/>
          <p:nvPr/>
        </p:nvSpPr>
        <p:spPr>
          <a:xfrm>
            <a:off x="2002536" y="4242816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50008" y="427024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amber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74520" y="5029200"/>
            <a:ext cx="1298448" cy="594360"/>
          </a:xfrm>
          <a:prstGeom prst="roundRect">
            <a:avLst>
              <a:gd name="adj" fmla="val 18461"/>
            </a:avLst>
          </a:prstGeom>
          <a:solidFill>
            <a:srgbClr val="E0E7FF"/>
          </a:solidFill>
          <a:ln>
            <a:noFill/>
          </a:ln>
          <a:effectLst/>
        </p:spPr>
        <p:txBody>
          <a:bodyPr rtlCol="0" anchor="ctr" wrap="square" lIns="45720" rIns="45720"/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automatic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72968" y="3246120"/>
            <a:ext cx="118872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18" name="Rounded Rectangle 17"/>
          <p:cNvSpPr/>
          <p:nvPr/>
        </p:nvSpPr>
        <p:spPr>
          <a:xfrm>
            <a:off x="3291840" y="1600200"/>
            <a:ext cx="1298448" cy="3291840"/>
          </a:xfrm>
          <a:prstGeom prst="roundRect">
            <a:avLst>
              <a:gd name="adj" fmla="val 845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01568" y="1728216"/>
            <a:ext cx="365760" cy="36576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2194560"/>
            <a:ext cx="11155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DJI 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1568" y="2788920"/>
            <a:ext cx="1078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Pilot flies the DJI up under the ring. Ring locks 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40" y="5029200"/>
            <a:ext cx="1298448" cy="594360"/>
          </a:xfrm>
          <a:prstGeom prst="roundRect">
            <a:avLst>
              <a:gd name="adj" fmla="val 18461"/>
            </a:avLst>
          </a:prstGeom>
          <a:solidFill>
            <a:srgbClr val="FEF3C7"/>
          </a:solidFill>
          <a:ln>
            <a:noFill/>
          </a:ln>
          <a:effectLst/>
        </p:spPr>
        <p:txBody>
          <a:bodyPr rtlCol="0" anchor="ctr" wrap="square" lIns="45720" rIns="45720"/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pilot, then Enter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590288" y="3246120"/>
            <a:ext cx="118872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24" name="Rounded Rectangle 23"/>
          <p:cNvSpPr/>
          <p:nvPr/>
        </p:nvSpPr>
        <p:spPr>
          <a:xfrm>
            <a:off x="4709160" y="1600200"/>
            <a:ext cx="1298448" cy="3291840"/>
          </a:xfrm>
          <a:prstGeom prst="roundRect">
            <a:avLst>
              <a:gd name="adj" fmla="val 845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18888" y="1728216"/>
            <a:ext cx="365760" cy="36576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18888" y="2194560"/>
            <a:ext cx="11155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Station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18888" y="2788920"/>
            <a:ext cx="1078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Attacker moves to one side, sizing up the ring.</a:t>
            </a:r>
          </a:p>
        </p:txBody>
      </p:sp>
      <p:sp>
        <p:nvSpPr>
          <p:cNvPr id="28" name="Oval 27"/>
          <p:cNvSpPr/>
          <p:nvPr/>
        </p:nvSpPr>
        <p:spPr>
          <a:xfrm>
            <a:off x="4837176" y="4242816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84648" y="427024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amber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09160" y="5029200"/>
            <a:ext cx="1298448" cy="594360"/>
          </a:xfrm>
          <a:prstGeom prst="roundRect">
            <a:avLst>
              <a:gd name="adj" fmla="val 18461"/>
            </a:avLst>
          </a:prstGeom>
          <a:solidFill>
            <a:srgbClr val="E0E7FF"/>
          </a:solidFill>
          <a:ln>
            <a:noFill/>
          </a:ln>
          <a:effectLst/>
        </p:spPr>
        <p:txBody>
          <a:bodyPr rtlCol="0" anchor="ctr" wrap="square" lIns="45720" rIns="45720"/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Enter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07608" y="3246120"/>
            <a:ext cx="118872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32" name="Rounded Rectangle 31"/>
          <p:cNvSpPr/>
          <p:nvPr/>
        </p:nvSpPr>
        <p:spPr>
          <a:xfrm>
            <a:off x="6126480" y="1600200"/>
            <a:ext cx="1298448" cy="3291840"/>
          </a:xfrm>
          <a:prstGeom prst="roundRect">
            <a:avLst>
              <a:gd name="adj" fmla="val 845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236208" y="1728216"/>
            <a:ext cx="365760" cy="36576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6208" y="2194560"/>
            <a:ext cx="11155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Attack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6208" y="2788920"/>
            <a:ext cx="1078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Attacker hunts the gaps. Ring turns to block.</a:t>
            </a:r>
          </a:p>
        </p:txBody>
      </p:sp>
      <p:sp>
        <p:nvSpPr>
          <p:cNvPr id="36" name="Oval 35"/>
          <p:cNvSpPr/>
          <p:nvPr/>
        </p:nvSpPr>
        <p:spPr>
          <a:xfrm>
            <a:off x="6254496" y="4242816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01968" y="427024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red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5029200"/>
            <a:ext cx="1298448" cy="594360"/>
          </a:xfrm>
          <a:prstGeom prst="roundRect">
            <a:avLst>
              <a:gd name="adj" fmla="val 18461"/>
            </a:avLst>
          </a:prstGeom>
          <a:solidFill>
            <a:srgbClr val="E0E7FF"/>
          </a:solidFill>
          <a:ln>
            <a:noFill/>
          </a:ln>
          <a:effectLst/>
        </p:spPr>
        <p:txBody>
          <a:bodyPr rtlCol="0" anchor="ctr" wrap="square" lIns="45720" rIns="45720"/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Enter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424928" y="3246120"/>
            <a:ext cx="118872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40" name="Rounded Rectangle 39"/>
          <p:cNvSpPr/>
          <p:nvPr/>
        </p:nvSpPr>
        <p:spPr>
          <a:xfrm>
            <a:off x="7543800" y="1600200"/>
            <a:ext cx="1298448" cy="3291840"/>
          </a:xfrm>
          <a:prstGeom prst="roundRect">
            <a:avLst>
              <a:gd name="adj" fmla="val 845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653528" y="1728216"/>
            <a:ext cx="365760" cy="36576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53528" y="2194560"/>
            <a:ext cx="11155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Stand down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53528" y="2788920"/>
            <a:ext cx="1078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Attacker gives up and withdraws.</a:t>
            </a:r>
          </a:p>
        </p:txBody>
      </p:sp>
      <p:sp>
        <p:nvSpPr>
          <p:cNvPr id="44" name="Oval 43"/>
          <p:cNvSpPr/>
          <p:nvPr/>
        </p:nvSpPr>
        <p:spPr>
          <a:xfrm>
            <a:off x="7671816" y="4242816"/>
            <a:ext cx="292608" cy="292608"/>
          </a:xfrm>
          <a:prstGeom prst="ellipse">
            <a:avLst/>
          </a:prstGeom>
          <a:solidFill>
            <a:srgbClr val="C026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19288" y="427024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magenta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43800" y="5029200"/>
            <a:ext cx="1298448" cy="594360"/>
          </a:xfrm>
          <a:prstGeom prst="roundRect">
            <a:avLst>
              <a:gd name="adj" fmla="val 18461"/>
            </a:avLst>
          </a:prstGeom>
          <a:solidFill>
            <a:srgbClr val="E0E7FF"/>
          </a:solidFill>
          <a:ln>
            <a:noFill/>
          </a:ln>
          <a:effectLst/>
        </p:spPr>
        <p:txBody>
          <a:bodyPr rtlCol="0" anchor="ctr" wrap="square" lIns="45720" rIns="45720"/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Enter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842248" y="3246120"/>
            <a:ext cx="118872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48" name="Rounded Rectangle 47"/>
          <p:cNvSpPr/>
          <p:nvPr/>
        </p:nvSpPr>
        <p:spPr>
          <a:xfrm>
            <a:off x="8961120" y="1600200"/>
            <a:ext cx="1298448" cy="3291840"/>
          </a:xfrm>
          <a:prstGeom prst="roundRect">
            <a:avLst>
              <a:gd name="adj" fmla="val 845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070848" y="1728216"/>
            <a:ext cx="365760" cy="36576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70848" y="2194560"/>
            <a:ext cx="11155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DJI down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70848" y="2788920"/>
            <a:ext cx="1078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Ring climbs clear. Pilot lands the DJI.</a:t>
            </a:r>
          </a:p>
        </p:txBody>
      </p:sp>
      <p:sp>
        <p:nvSpPr>
          <p:cNvPr id="52" name="Oval 51"/>
          <p:cNvSpPr/>
          <p:nvPr/>
        </p:nvSpPr>
        <p:spPr>
          <a:xfrm>
            <a:off x="9089136" y="4242816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36608" y="427024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amber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961120" y="5029200"/>
            <a:ext cx="1298448" cy="594360"/>
          </a:xfrm>
          <a:prstGeom prst="roundRect">
            <a:avLst>
              <a:gd name="adj" fmla="val 18461"/>
            </a:avLst>
          </a:prstGeom>
          <a:solidFill>
            <a:srgbClr val="FEF3C7"/>
          </a:solidFill>
          <a:ln>
            <a:noFill/>
          </a:ln>
          <a:effectLst/>
        </p:spPr>
        <p:txBody>
          <a:bodyPr rtlCol="0" anchor="ctr" wrap="square" lIns="45720" rIns="45720"/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pilot, then Enter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0259568" y="3246120"/>
            <a:ext cx="118872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56" name="Rounded Rectangle 55"/>
          <p:cNvSpPr/>
          <p:nvPr/>
        </p:nvSpPr>
        <p:spPr>
          <a:xfrm>
            <a:off x="10378440" y="1600200"/>
            <a:ext cx="1298448" cy="3291840"/>
          </a:xfrm>
          <a:prstGeom prst="roundRect">
            <a:avLst>
              <a:gd name="adj" fmla="val 845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488168" y="1728216"/>
            <a:ext cx="365760" cy="36576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88168" y="2194560"/>
            <a:ext cx="11155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Land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88168" y="2788920"/>
            <a:ext cx="1078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All four drones land and switch off.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378440" y="5029200"/>
            <a:ext cx="1298448" cy="594360"/>
          </a:xfrm>
          <a:prstGeom prst="roundRect">
            <a:avLst>
              <a:gd name="adj" fmla="val 18461"/>
            </a:avLst>
          </a:prstGeom>
          <a:solidFill>
            <a:srgbClr val="E0E7FF"/>
          </a:solidFill>
          <a:ln>
            <a:noFill/>
          </a:ln>
          <a:effectLst/>
        </p:spPr>
        <p:txBody>
          <a:bodyPr rtlCol="0" anchor="ctr" wrap="square" lIns="45720" rIns="45720"/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automatic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Lights: the attacker’s colour, except steps 1 and 6 where ALL drones go amber ("your move"). With a fixed point as the VIP (no DJI), steps 2 and 6 are skipped. Ctrl-C, Abort or q lands everything at any step.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What the lights mean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Colours are status, not decoration. Each colour has exactly one meaning.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508760"/>
            <a:ext cx="640080" cy="64008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8760" y="148132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F2937"/>
                </a:solidFill>
                <a:latin typeface="Calibri"/>
              </a:rPr>
              <a:t>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847088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the attacker, pressing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56032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253288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F2937"/>
                </a:solidFill>
                <a:latin typeface="Calibri"/>
              </a:rPr>
              <a:t>Amber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898648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attacker taking station, or ALL drones: waiting for a human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611880"/>
            <a:ext cx="640080" cy="640080"/>
          </a:xfrm>
          <a:prstGeom prst="ellipse">
            <a:avLst/>
          </a:prstGeom>
          <a:solidFill>
            <a:srgbClr val="D946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358444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F2937"/>
                </a:solidFill>
                <a:latin typeface="Calibri"/>
              </a:rPr>
              <a:t>Magenta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950208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the attacker has stood down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663440"/>
            <a:ext cx="640080" cy="64008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1F293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463600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F2937"/>
                </a:solidFill>
                <a:latin typeface="Calibri"/>
              </a:rPr>
              <a:t>White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5001768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the defender currently blocking</a:t>
            </a:r>
          </a:p>
        </p:txBody>
      </p:sp>
      <p:sp>
        <p:nvSpPr>
          <p:cNvPr id="16" name="Oval 15"/>
          <p:cNvSpPr/>
          <p:nvPr/>
        </p:nvSpPr>
        <p:spPr>
          <a:xfrm>
            <a:off x="6355080" y="150876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148132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F2937"/>
                </a:solidFill>
                <a:latin typeface="Calibri"/>
              </a:rPr>
              <a:t>Violet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1847088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the two wings, closed up beside the blocker</a:t>
            </a:r>
          </a:p>
        </p:txBody>
      </p:sp>
      <p:sp>
        <p:nvSpPr>
          <p:cNvPr id="19" name="Oval 18"/>
          <p:cNvSpPr/>
          <p:nvPr/>
        </p:nvSpPr>
        <p:spPr>
          <a:xfrm>
            <a:off x="6355080" y="2560320"/>
            <a:ext cx="640080" cy="64008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253288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F2937"/>
                </a:solidFill>
                <a:latin typeface="Calibri"/>
              </a:rPr>
              <a:t>Deep blue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2898648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the resting ring, nothing to do</a:t>
            </a:r>
          </a:p>
        </p:txBody>
      </p:sp>
      <p:sp>
        <p:nvSpPr>
          <p:cNvPr id="22" name="Oval 21"/>
          <p:cNvSpPr/>
          <p:nvPr/>
        </p:nvSpPr>
        <p:spPr>
          <a:xfrm>
            <a:off x="6355080" y="3611880"/>
            <a:ext cx="640080" cy="640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358444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F2937"/>
                </a:solidFill>
                <a:latin typeface="Calibri"/>
              </a:rPr>
              <a:t>Cyan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950208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all 3 defenders: the VIP left its box, the ring is parked and waiting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709160"/>
            <a:ext cx="5212080" cy="1188720"/>
          </a:xfrm>
          <a:prstGeom prst="roundRect">
            <a:avLst>
              <a:gd name="adj" fmla="val 923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If the defenders all turn cyan, fly the DJI back toward the middle of the arena. They resume on their own.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76072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Before and after the show: green = connected and ready, red = a script is in control.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Flight day, in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Do the simulator once first. Skipping a step is how the known accidents happened.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08760"/>
            <a:ext cx="2606040" cy="1874520"/>
          </a:xfrm>
          <a:prstGeom prst="roundRect">
            <a:avLst>
              <a:gd name="adj" fmla="val 5853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21792" y="1673352"/>
            <a:ext cx="384048" cy="384048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6916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  <a:latin typeface="Calibri"/>
              </a:rPr>
              <a:t>Check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no drones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338CA"/>
                </a:solidFill>
                <a:latin typeface="Courier New"/>
              </a:rPr>
              <a:t>plan_escort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81528" y="2446020"/>
            <a:ext cx="237744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10" name="Rounded Rectangle 9"/>
          <p:cNvSpPr/>
          <p:nvPr/>
        </p:nvSpPr>
        <p:spPr>
          <a:xfrm>
            <a:off x="3337560" y="1508760"/>
            <a:ext cx="2606040" cy="1874520"/>
          </a:xfrm>
          <a:prstGeom prst="roundRect">
            <a:avLst>
              <a:gd name="adj" fmla="val 5853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02152" y="1673352"/>
            <a:ext cx="384048" cy="384048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6916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  <a:latin typeface="Calibri"/>
              </a:rPr>
              <a:t>Place drones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2402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on their floor marks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6974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338CA"/>
                </a:solidFill>
                <a:latin typeface="Courier New"/>
              </a:rPr>
              <a:t>place_drones.py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61888" y="2446020"/>
            <a:ext cx="237744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6217920" y="1508760"/>
            <a:ext cx="2606040" cy="1874520"/>
          </a:xfrm>
          <a:prstGeom prst="roundRect">
            <a:avLst>
              <a:gd name="adj" fmla="val 5853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82512" y="1673352"/>
            <a:ext cx="384048" cy="384048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6916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  <a:latin typeface="Calibri"/>
              </a:rPr>
              <a:t>Record marks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2402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yaml = where they 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6974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338CA"/>
                </a:solidFill>
                <a:latin typeface="Courier New"/>
              </a:rPr>
              <a:t>sync_initial_positions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42248" y="2446020"/>
            <a:ext cx="237744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22" name="Rounded Rectangle 21"/>
          <p:cNvSpPr/>
          <p:nvPr/>
        </p:nvSpPr>
        <p:spPr>
          <a:xfrm>
            <a:off x="9098280" y="1508760"/>
            <a:ext cx="2606040" cy="1874520"/>
          </a:xfrm>
          <a:prstGeom prst="roundRect">
            <a:avLst>
              <a:gd name="adj" fmla="val 5853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62872" y="1673352"/>
            <a:ext cx="384048" cy="384048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16916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  <a:latin typeface="Calibri"/>
              </a:rPr>
              <a:t>Radio scan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2402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every drone must answer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6974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338CA"/>
                </a:solidFill>
                <a:latin typeface="Courier New"/>
              </a:rPr>
              <a:t>scan_fleet.sh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794760"/>
            <a:ext cx="2606040" cy="1874520"/>
          </a:xfrm>
          <a:prstGeom prst="roundRect">
            <a:avLst>
              <a:gd name="adj" fmla="val 5853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1792" y="3959352"/>
            <a:ext cx="384048" cy="384048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39776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  <a:latin typeface="Calibri"/>
              </a:rPr>
              <a:t>Launch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5262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mocap, server, GUIs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9834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338CA"/>
                </a:solidFill>
                <a:latin typeface="Courier New"/>
              </a:rPr>
              <a:t>ros2 launch crazyflie launch.py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081528" y="4732020"/>
            <a:ext cx="237744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33" name="Rounded Rectangle 32"/>
          <p:cNvSpPr/>
          <p:nvPr/>
        </p:nvSpPr>
        <p:spPr>
          <a:xfrm>
            <a:off x="3337560" y="3794760"/>
            <a:ext cx="2606040" cy="1874520"/>
          </a:xfrm>
          <a:prstGeom prst="roundRect">
            <a:avLst>
              <a:gd name="adj" fmla="val 5853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502152" y="3959352"/>
            <a:ext cx="384048" cy="384048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39776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  <a:latin typeface="Calibri"/>
              </a:rPr>
              <a:t>Preflight GUI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0440" y="45262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go / no-go per drone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49834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338CA"/>
                </a:solidFill>
                <a:latin typeface="Courier New"/>
              </a:rPr>
              <a:t>battery, mocap, yaw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961888" y="4732020"/>
            <a:ext cx="237744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39" name="Rounded Rectangle 38"/>
          <p:cNvSpPr/>
          <p:nvPr/>
        </p:nvSpPr>
        <p:spPr>
          <a:xfrm>
            <a:off x="6217920" y="3794760"/>
            <a:ext cx="2606040" cy="1874520"/>
          </a:xfrm>
          <a:prstGeom prst="roundRect">
            <a:avLst>
              <a:gd name="adj" fmla="val 5853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82512" y="3959352"/>
            <a:ext cx="384048" cy="384048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39776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  <a:latin typeface="Calibri"/>
              </a:rPr>
              <a:t>Dry run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5262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checks, arms nothing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9834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338CA"/>
                </a:solidFill>
                <a:latin typeface="Courier New"/>
              </a:rPr>
              <a:t>dry_run:=true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842248" y="4732020"/>
            <a:ext cx="237744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45" name="Rounded Rectangle 44"/>
          <p:cNvSpPr/>
          <p:nvPr/>
        </p:nvSpPr>
        <p:spPr>
          <a:xfrm>
            <a:off x="9098280" y="3794760"/>
            <a:ext cx="2606040" cy="1874520"/>
          </a:xfrm>
          <a:prstGeom prst="roundRect">
            <a:avLst>
              <a:gd name="adj" fmla="val 5853"/>
            </a:avLst>
          </a:prstGeom>
          <a:solidFill>
            <a:srgbClr val="DCFCE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262872" y="3959352"/>
            <a:ext cx="384048" cy="384048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84080" y="39776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  <a:latin typeface="Calibri"/>
              </a:rPr>
              <a:t>Fly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60" y="45262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operator-paced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81160" y="49834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5803D"/>
                </a:solidFill>
                <a:latin typeface="Courier New"/>
              </a:rPr>
              <a:t>escort_show</a:t>
            </a:r>
          </a:p>
        </p:txBody>
      </p:sp>
      <p:sp>
        <p:nvSpPr>
          <p:cNvPr id="50" name="Freeform 49"/>
          <p:cNvSpPr/>
          <p:nvPr/>
        </p:nvSpPr>
        <p:spPr>
          <a:xfrm>
            <a:off x="1760220" y="3383280"/>
            <a:ext cx="8641080" cy="393192"/>
          </a:xfrm>
          <a:custGeom>
            <a:avLst/>
            <a:gdLst/>
            <a:ahLst/>
            <a:cxnLst/>
            <a:rect l="l" t="t" r="r" b="b"/>
            <a:pathLst>
              <a:path w="8641080" h="393192">
                <a:moveTo>
                  <a:pt x="8641080" y="0"/>
                </a:moveTo>
                <a:lnTo>
                  <a:pt x="8641080" y="201168"/>
                </a:lnTo>
                <a:lnTo>
                  <a:pt x="0" y="201168"/>
                </a:lnTo>
                <a:lnTo>
                  <a:pt x="0" y="393192"/>
                </a:lnTo>
              </a:path>
            </a:pathLst>
          </a:custGeom>
          <a:noFill/>
          <a:ln w="19050">
            <a:solidFill>
              <a:srgbClr val="1F293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Steps 2–3 run with mocap up but NO server (server:=False): nothing owns the radio, nothing can arm.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The safety filter: every command, every tick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Three stages in a fixed order. The last rule applied always holds, so the order is the priority.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1417320" cy="1463040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600" b="0" i="0">
                <a:solidFill>
                  <a:srgbClr val="1F2937"/>
                </a:solidFill>
                <a:latin typeface="Calibri"/>
              </a:rPr>
              <a:t>desired</a:t>
            </a:r>
          </a:p>
          <a:p>
            <a:pPr algn="ctr"/>
            <a:r>
              <a:rPr sz="1600" b="0" i="0">
                <a:solidFill>
                  <a:srgbClr val="1F2937"/>
                </a:solidFill>
                <a:latin typeface="Calibri"/>
              </a:rPr>
              <a:t>target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0" y="201168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E2E8F0"/>
          </a:solidFill>
          <a:ln w="15875">
            <a:solidFill>
              <a:srgbClr val="334155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600" b="1" i="0">
                <a:solidFill>
                  <a:srgbClr val="334155"/>
                </a:solidFill>
                <a:latin typeface="Calibri"/>
              </a:rPr>
              <a:t>1  SLEW</a:t>
            </a:r>
          </a:p>
          <a:p>
            <a:pPr algn="ctr">
              <a:spcBef>
                <a:spcPts val="600"/>
              </a:spcBef>
            </a:pPr>
            <a:r>
              <a:rPr sz="1300" b="0" i="0">
                <a:solidFill>
                  <a:srgbClr val="1F2937"/>
                </a:solidFill>
                <a:latin typeface="Calibri"/>
              </a:rPr>
              <a:t>limit acceleration,</a:t>
            </a:r>
          </a:p>
          <a:p>
            <a:pPr algn="ctr"/>
            <a:r>
              <a:rPr sz="1300" b="0" i="0">
                <a:solidFill>
                  <a:srgbClr val="1F2937"/>
                </a:solidFill>
                <a:latin typeface="Calibri"/>
              </a:rPr>
              <a:t>then speed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92808" y="2743200"/>
            <a:ext cx="283464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</p:cxnSp>
      <p:sp>
        <p:nvSpPr>
          <p:cNvPr id="7" name="Rounded Rectangle 6"/>
          <p:cNvSpPr/>
          <p:nvPr/>
        </p:nvSpPr>
        <p:spPr>
          <a:xfrm>
            <a:off x="4983480" y="201168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DBEAFE"/>
          </a:solidFill>
          <a:ln w="15875">
            <a:solidFill>
              <a:srgbClr val="1D4ED8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600" b="1" i="0">
                <a:solidFill>
                  <a:srgbClr val="1D4ED8"/>
                </a:solidFill>
                <a:latin typeface="Calibri"/>
              </a:rPr>
              <a:t>2  SEPARATIONS</a:t>
            </a:r>
          </a:p>
          <a:p>
            <a:pPr algn="ctr">
              <a:spcBef>
                <a:spcPts val="600"/>
              </a:spcBef>
            </a:pPr>
            <a:r>
              <a:rPr sz="1300" b="0" i="0">
                <a:solidFill>
                  <a:srgbClr val="1F2937"/>
                </a:solidFill>
                <a:latin typeface="Calibri"/>
              </a:rPr>
              <a:t>push the point out of each</a:t>
            </a:r>
          </a:p>
          <a:p>
            <a:pPr algn="ctr"/>
            <a:r>
              <a:rPr sz="1300" b="0" i="0">
                <a:solidFill>
                  <a:srgbClr val="1F2937"/>
                </a:solidFill>
                <a:latin typeface="Calibri"/>
              </a:rPr>
              <a:t>keep-out circle, a few passes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681728" y="2743200"/>
            <a:ext cx="283464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</p:cxnSp>
      <p:sp>
        <p:nvSpPr>
          <p:cNvPr id="9" name="Rounded Rectangle 8"/>
          <p:cNvSpPr/>
          <p:nvPr/>
        </p:nvSpPr>
        <p:spPr>
          <a:xfrm>
            <a:off x="7772400" y="201168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DCFCE7"/>
          </a:solidFill>
          <a:ln w="15875">
            <a:solidFill>
              <a:srgbClr val="15803D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600" b="1" i="0">
                <a:solidFill>
                  <a:srgbClr val="15803D"/>
                </a:solidFill>
                <a:latin typeface="Calibri"/>
              </a:rPr>
              <a:t>3  ROOM</a:t>
            </a:r>
          </a:p>
          <a:p>
            <a:pPr algn="ctr">
              <a:spcBef>
                <a:spcPts val="600"/>
              </a:spcBef>
            </a:pPr>
            <a:r>
              <a:rPr sz="1300" b="0" i="0">
                <a:solidFill>
                  <a:srgbClr val="1F2937"/>
                </a:solidFill>
                <a:latin typeface="Calibri"/>
              </a:rPr>
              <a:t>pull the point back inside</a:t>
            </a:r>
          </a:p>
          <a:p>
            <a:pPr algn="ctr"/>
            <a:r>
              <a:rPr sz="1300" b="0" i="0">
                <a:solidFill>
                  <a:srgbClr val="1F2937"/>
                </a:solidFill>
                <a:latin typeface="Calibri"/>
              </a:rPr>
              <a:t>the arena and height band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70648" y="2743200"/>
            <a:ext cx="283464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</p:cxnSp>
      <p:cxnSp>
        <p:nvCxnSpPr>
          <p:cNvPr id="11" name="Connector 10"/>
          <p:cNvCxnSpPr/>
          <p:nvPr/>
        </p:nvCxnSpPr>
        <p:spPr>
          <a:xfrm>
            <a:off x="10259568" y="2743200"/>
            <a:ext cx="283464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</p:cxnSp>
      <p:sp>
        <p:nvSpPr>
          <p:cNvPr id="12" name="Rounded Rectangle 11"/>
          <p:cNvSpPr/>
          <p:nvPr/>
        </p:nvSpPr>
        <p:spPr>
          <a:xfrm>
            <a:off x="10561320" y="2011680"/>
            <a:ext cx="1170432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600" b="0" i="0">
                <a:solidFill>
                  <a:srgbClr val="1F2937"/>
                </a:solidFill>
                <a:latin typeface="Calibri"/>
              </a:rPr>
              <a:t>sent to</a:t>
            </a:r>
          </a:p>
          <a:p>
            <a:pPr algn="ctr"/>
            <a:r>
              <a:rPr sz="1600" b="0" i="0">
                <a:solidFill>
                  <a:srgbClr val="1F2937"/>
                </a:solidFill>
                <a:latin typeface="Calibri"/>
              </a:rPr>
              <a:t>the drone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38862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D4ED8"/>
                </a:solidFill>
                <a:latin typeface="Calibri"/>
              </a:rPr>
              <a:t>Inside stage 2, order matters: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14600" y="4389120"/>
            <a:ext cx="2743200" cy="868680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 w="15875">
            <a:solidFill>
              <a:srgbClr val="DC2626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400" b="1" i="0">
                <a:solidFill>
                  <a:srgbClr val="DC2626"/>
                </a:solidFill>
                <a:latin typeface="Calibri"/>
              </a:rPr>
              <a:t>away from the attacker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57800" y="4818888"/>
            <a:ext cx="27432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5532120" y="4389120"/>
            <a:ext cx="2743200" cy="868680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 w="15875">
            <a:solidFill>
              <a:srgbClr val="1D4ED8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400" b="1" i="0">
                <a:solidFill>
                  <a:srgbClr val="1D4ED8"/>
                </a:solidFill>
                <a:latin typeface="Calibri"/>
              </a:rPr>
              <a:t>away from the other defenders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75320" y="4818888"/>
            <a:ext cx="27432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</p:cxnSp>
      <p:sp>
        <p:nvSpPr>
          <p:cNvPr id="18" name="Rounded Rectangle 17"/>
          <p:cNvSpPr/>
          <p:nvPr/>
        </p:nvSpPr>
        <p:spPr>
          <a:xfrm>
            <a:off x="8549640" y="4389120"/>
            <a:ext cx="2743200" cy="868680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 w="15875">
            <a:solidFill>
              <a:srgbClr val="D97706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400" b="1" i="0">
                <a:solidFill>
                  <a:srgbClr val="D97706"/>
                </a:solidFill>
                <a:latin typeface="Calibri"/>
              </a:rPr>
              <a:t>away from the VIP: LAST, so it always wins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Slew first, then separations. The other way round, the slew drags the drone straight back inside the limit (a real bug in an early version).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Two ways to command a Crazyflie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The escort uses both, and hands over between them.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E0E7FF"/>
          </a:solidFill>
          <a:ln>
            <a:noFill/>
          </a:ln>
          <a:effectLst/>
        </p:spPr>
        <p:txBody>
          <a:bodyPr rtlCol="0" anchor="t" wrap="square" lIns="274320" rIns="274320"/>
          <a:lstStyle/>
          <a:p>
            <a:pPr algn="l"/>
            <a:r>
              <a:rPr sz="1900" b="1" i="0">
                <a:solidFill>
                  <a:srgbClr val="4338CA"/>
                </a:solidFill>
                <a:latin typeface="Calibri"/>
              </a:rPr>
              <a:t>High-level commands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338CA"/>
                </a:solidFill>
                <a:latin typeface="Courier New"/>
              </a:rPr>
              <a:t>takeoff, goTo, land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1F2937"/>
                </a:solidFill>
                <a:latin typeface="Calibri"/>
              </a:rPr>
              <a:t>One goal and a duration. The DRONE plans a smooth path and flies it on its own.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6B7280"/>
                </a:solidFill>
                <a:latin typeface="Calibri"/>
              </a:rPr>
              <a:t>Used for: take-off, forming the ring, landing.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  <a:effectLst/>
        </p:spPr>
        <p:txBody>
          <a:bodyPr rtlCol="0" anchor="t" wrap="square" lIns="274320" rIns="274320"/>
          <a:lstStyle/>
          <a:p>
            <a:pPr algn="l"/>
            <a:r>
              <a:rPr sz="1900" b="1" i="0">
                <a:solidFill>
                  <a:srgbClr val="1D4ED8"/>
                </a:solidFill>
                <a:latin typeface="Calibri"/>
              </a:rPr>
              <a:t>Streaming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D4ED8"/>
                </a:solidFill>
                <a:latin typeface="Courier New"/>
              </a:rPr>
              <a:t>cmdFullState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1F2937"/>
                </a:solidFill>
                <a:latin typeface="Calibri"/>
              </a:rPr>
              <a:t>A new position + velocity every 1/20 s. The LAPTOP plans; it must keep sending.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6B7280"/>
                </a:solidFill>
                <a:latin typeface="Calibri"/>
              </a:rPr>
              <a:t>Used for: the escort itself, which reacts to things that move.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0" y="2468880"/>
            <a:ext cx="45720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</p:cxnSp>
      <p:cxnSp>
        <p:nvCxnSpPr>
          <p:cNvPr id="7" name="Connector 6"/>
          <p:cNvCxnSpPr/>
          <p:nvPr/>
        </p:nvCxnSpPr>
        <p:spPr>
          <a:xfrm flipH="1">
            <a:off x="5852160" y="2926080"/>
            <a:ext cx="45720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</p:cxnSp>
      <p:sp>
        <p:nvSpPr>
          <p:cNvPr id="8" name="TextBox 7"/>
          <p:cNvSpPr txBox="1"/>
          <p:nvPr/>
        </p:nvSpPr>
        <p:spPr>
          <a:xfrm>
            <a:off x="4297680" y="388620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first streamed setpoint takes over;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notifySetpointsStop hands 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663440"/>
            <a:ext cx="11247120" cy="109728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>
            <a:noFill/>
          </a:ln>
          <a:effectLst/>
        </p:spPr>
        <p:txBody>
          <a:bodyPr rtlCol="0" anchor="ctr" wrap="square" lIns="274320" rIns="274320"/>
          <a:lstStyle/>
          <a:p>
            <a:pPr algn="l"/>
            <a:r>
              <a:rPr sz="1500" b="1" i="0">
                <a:solidFill>
                  <a:srgbClr val="DC2626"/>
                </a:solidFill>
                <a:latin typeface="Calibri"/>
              </a:rPr>
              <a:t>If streaming stops: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after 0.5 s the drone levels out; after 2 s its motors stop and it falls (then needs a battery re-plug). So every code path, including waiting for a human, keeps sending.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The reactive attacker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Pulled toward the widest gap, pushed away by defenders and walls. Hard limits are enforced separately.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27432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F59E0B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59E0B"/>
                </a:solidFill>
                <a:latin typeface="Calibri"/>
              </a:rPr>
              <a:t>STATION</a:t>
            </a:r>
          </a:p>
          <a:p>
            <a:pPr algn="ctr"/>
            <a:r>
              <a:rPr sz="1400" b="0" i="0">
                <a:solidFill>
                  <a:srgbClr val="1F2937"/>
                </a:solidFill>
                <a:latin typeface="Calibri"/>
              </a:rPr>
              <a:t>wait off to one side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74720" y="2240280"/>
            <a:ext cx="91440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</p:cxnSp>
      <p:sp>
        <p:nvSpPr>
          <p:cNvPr id="6" name="TextBox 5"/>
          <p:cNvSpPr txBox="1"/>
          <p:nvPr/>
        </p:nvSpPr>
        <p:spPr>
          <a:xfrm>
            <a:off x="3474720" y="23317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Enter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91640"/>
            <a:ext cx="27432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DC2626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800" b="1" i="0">
                <a:solidFill>
                  <a:srgbClr val="DC2626"/>
                </a:solidFill>
                <a:latin typeface="Calibri"/>
              </a:rPr>
              <a:t>ATTACK</a:t>
            </a:r>
          </a:p>
          <a:p>
            <a:pPr algn="ctr"/>
            <a:r>
              <a:rPr sz="1400" b="0" i="0">
                <a:solidFill>
                  <a:srgbClr val="1F2937"/>
                </a:solidFill>
                <a:latin typeface="Calibri"/>
              </a:rPr>
              <a:t>hunt the widest gap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132320" y="2240280"/>
            <a:ext cx="91440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</p:cxnSp>
      <p:sp>
        <p:nvSpPr>
          <p:cNvPr id="9" name="TextBox 8"/>
          <p:cNvSpPr txBox="1"/>
          <p:nvPr/>
        </p:nvSpPr>
        <p:spPr>
          <a:xfrm>
            <a:off x="7132320" y="23317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Enter, or</a:t>
            </a:r>
          </a:p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it gives 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91640"/>
            <a:ext cx="27432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C026D3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800" b="1" i="0">
                <a:solidFill>
                  <a:srgbClr val="C026D3"/>
                </a:solidFill>
                <a:latin typeface="Calibri"/>
              </a:rPr>
              <a:t>STAND DOWN</a:t>
            </a:r>
          </a:p>
          <a:p>
            <a:pPr algn="ctr"/>
            <a:r>
              <a:rPr sz="1400" b="0" i="0">
                <a:solidFill>
                  <a:srgbClr val="1F2937"/>
                </a:solidFill>
                <a:latin typeface="Calibri"/>
              </a:rPr>
              <a:t>withdraw to station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DC2626"/>
                </a:solidFill>
                <a:latin typeface="Calibri"/>
              </a:rPr>
              <a:t>Gap seeking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30168"/>
            <a:ext cx="5120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Aims at the widest gap between defenders, preferring gaps away from where it is, so it flanks. Commits to a gap until a defender closes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2461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DC2626"/>
                </a:solidFill>
                <a:latin typeface="Calibri"/>
              </a:rPr>
              <a:t>Giving 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630168"/>
            <a:ext cx="5120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Remembers its closest approach. If it cannot beat that for a while, it stands down on its own.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DC2626"/>
                </a:solidFill>
                <a:latin typeface="Calibri"/>
              </a:rPr>
              <a:t>Hard limits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47488"/>
            <a:ext cx="5120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Forces only make it LOOK careful. After every step its point is pushed out of a keep-out circle round the VIP and round each defender.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6634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DC2626"/>
                </a:solidFill>
                <a:latin typeface="Calibri"/>
              </a:rPr>
              <a:t>Same speed as a defender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047488"/>
            <a:ext cx="5120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It plans at 0.8 m/s, but its commands go through the same safety filter, so it flies at 0.6 m/s at most.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Inside one controller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What escort.py does every 1/20 s, from positions in to commands out.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00200"/>
            <a:ext cx="2057400" cy="1234440"/>
          </a:xfrm>
          <a:prstGeom prst="roundRect">
            <a:avLst>
              <a:gd name="adj" fmla="val 8888"/>
            </a:avLst>
          </a:prstGeom>
          <a:solidFill>
            <a:srgbClr val="E2E8F0"/>
          </a:solidFill>
          <a:ln w="15875">
            <a:solidFill>
              <a:srgbClr val="334155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334155"/>
                </a:solidFill>
                <a:latin typeface="Calibri"/>
              </a:rPr>
              <a:t>Positions in</a:t>
            </a:r>
          </a:p>
          <a:p>
            <a:pPr algn="ctr">
              <a:spcBef>
                <a:spcPts val="400"/>
              </a:spcBef>
            </a:pPr>
            <a:r>
              <a:rPr sz="1200" b="0" i="0">
                <a:solidFill>
                  <a:srgbClr val="1F2937"/>
                </a:solidFill>
                <a:latin typeface="Calibri"/>
              </a:rPr>
              <a:t>VIP, attacker, defenders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14600" y="2217420"/>
            <a:ext cx="237744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6" name="Rounded Rectangle 5"/>
          <p:cNvSpPr/>
          <p:nvPr/>
        </p:nvSpPr>
        <p:spPr>
          <a:xfrm>
            <a:off x="2752344" y="1600200"/>
            <a:ext cx="2057400" cy="1234440"/>
          </a:xfrm>
          <a:prstGeom prst="roundRect">
            <a:avLst>
              <a:gd name="adj" fmla="val 8888"/>
            </a:avLst>
          </a:prstGeom>
          <a:solidFill>
            <a:srgbClr val="E0E7FF"/>
          </a:solidFill>
          <a:ln w="15875">
            <a:solidFill>
              <a:srgbClr val="4338CA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4338CA"/>
                </a:solidFill>
                <a:latin typeface="Calibri"/>
              </a:rPr>
              <a:t>VIP velocity</a:t>
            </a:r>
          </a:p>
          <a:p>
            <a:pPr algn="ctr">
              <a:spcBef>
                <a:spcPts val="400"/>
              </a:spcBef>
            </a:pPr>
            <a:r>
              <a:rPr sz="1200" b="0" i="0">
                <a:solidFill>
                  <a:srgbClr val="1F2937"/>
                </a:solidFill>
                <a:latin typeface="Calibri"/>
              </a:rPr>
              <a:t>smoothed estimate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09744" y="2217420"/>
            <a:ext cx="237744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8" name="Rounded Rectangle 7"/>
          <p:cNvSpPr/>
          <p:nvPr/>
        </p:nvSpPr>
        <p:spPr>
          <a:xfrm>
            <a:off x="5047488" y="1600200"/>
            <a:ext cx="2057400" cy="1234440"/>
          </a:xfrm>
          <a:prstGeom prst="roundRect">
            <a:avLst>
              <a:gd name="adj" fmla="val 8888"/>
            </a:avLst>
          </a:prstGeom>
          <a:solidFill>
            <a:srgbClr val="FEF3C7"/>
          </a:solidFill>
          <a:ln w="15875">
            <a:solidFill>
              <a:srgbClr val="B45309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B45309"/>
                </a:solidFill>
                <a:latin typeface="Calibri"/>
              </a:rPr>
              <a:t>Blocking?</a:t>
            </a:r>
          </a:p>
          <a:p>
            <a:pPr algn="ctr">
              <a:spcBef>
                <a:spcPts val="400"/>
              </a:spcBef>
            </a:pPr>
            <a:r>
              <a:rPr sz="1200" b="0" i="0">
                <a:solidFill>
                  <a:srgbClr val="1F2937"/>
                </a:solidFill>
                <a:latin typeface="Calibri"/>
              </a:rPr>
              <a:t>alert / release latch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04888" y="2217420"/>
            <a:ext cx="237744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10" name="Rounded Rectangle 9"/>
          <p:cNvSpPr/>
          <p:nvPr/>
        </p:nvSpPr>
        <p:spPr>
          <a:xfrm>
            <a:off x="7342632" y="1600200"/>
            <a:ext cx="2057400" cy="1234440"/>
          </a:xfrm>
          <a:prstGeom prst="roundRect">
            <a:avLst>
              <a:gd name="adj" fmla="val 8888"/>
            </a:avLst>
          </a:prstGeom>
          <a:solidFill>
            <a:srgbClr val="E0E7FF"/>
          </a:solidFill>
          <a:ln w="15875">
            <a:solidFill>
              <a:srgbClr val="4338CA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4338CA"/>
                </a:solidFill>
                <a:latin typeface="Calibri"/>
              </a:rPr>
              <a:t>Pick the blocker</a:t>
            </a:r>
          </a:p>
          <a:p>
            <a:pPr algn="ctr">
              <a:spcBef>
                <a:spcPts val="400"/>
              </a:spcBef>
            </a:pPr>
            <a:r>
              <a:rPr sz="1200" b="0" i="0">
                <a:solidFill>
                  <a:srgbClr val="1F2937"/>
                </a:solidFill>
                <a:latin typeface="Calibri"/>
              </a:rPr>
              <a:t>slot nearest the threat,</a:t>
            </a:r>
          </a:p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with a margin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400032" y="2217420"/>
            <a:ext cx="237744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12" name="Rounded Rectangle 11"/>
          <p:cNvSpPr/>
          <p:nvPr/>
        </p:nvSpPr>
        <p:spPr>
          <a:xfrm>
            <a:off x="9637776" y="1600200"/>
            <a:ext cx="2057400" cy="1234440"/>
          </a:xfrm>
          <a:prstGeom prst="roundRect">
            <a:avLst>
              <a:gd name="adj" fmla="val 8888"/>
            </a:avLst>
          </a:prstGeom>
          <a:solidFill>
            <a:srgbClr val="DBEAFE"/>
          </a:solidFill>
          <a:ln w="15875">
            <a:solidFill>
              <a:srgbClr val="1D4ED8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1D4ED8"/>
                </a:solidFill>
                <a:latin typeface="Calibri"/>
              </a:rPr>
              <a:t>Turn the ring</a:t>
            </a:r>
          </a:p>
          <a:p>
            <a:pPr algn="ctr">
              <a:spcBef>
                <a:spcPts val="400"/>
              </a:spcBef>
            </a:pPr>
            <a:r>
              <a:rPr sz="1200" b="0" i="0">
                <a:solidFill>
                  <a:srgbClr val="1F2937"/>
                </a:solidFill>
                <a:latin typeface="Calibri"/>
              </a:rPr>
              <a:t>at a limited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2057400" cy="1234440"/>
          </a:xfrm>
          <a:prstGeom prst="roundRect">
            <a:avLst>
              <a:gd name="adj" fmla="val 8888"/>
            </a:avLst>
          </a:prstGeom>
          <a:solidFill>
            <a:srgbClr val="DBEAFE"/>
          </a:solidFill>
          <a:ln w="15875">
            <a:solidFill>
              <a:srgbClr val="1D4ED8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1D4ED8"/>
                </a:solidFill>
                <a:latin typeface="Calibri"/>
              </a:rPr>
              <a:t>Close the wall</a:t>
            </a:r>
          </a:p>
          <a:p>
            <a:pPr algn="ctr">
              <a:spcBef>
                <a:spcPts val="400"/>
              </a:spcBef>
            </a:pPr>
            <a:r>
              <a:rPr sz="1200" b="0" i="0">
                <a:solidFill>
                  <a:srgbClr val="1F2937"/>
                </a:solidFill>
                <a:latin typeface="Calibri"/>
              </a:rPr>
              <a:t>blend wings in or out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14600" y="4274820"/>
            <a:ext cx="237744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15" name="Rounded Rectangle 14"/>
          <p:cNvSpPr/>
          <p:nvPr/>
        </p:nvSpPr>
        <p:spPr>
          <a:xfrm>
            <a:off x="2752344" y="3657600"/>
            <a:ext cx="2057400" cy="1234440"/>
          </a:xfrm>
          <a:prstGeom prst="roundRect">
            <a:avLst>
              <a:gd name="adj" fmla="val 8888"/>
            </a:avLst>
          </a:prstGeom>
          <a:solidFill>
            <a:srgbClr val="DBEAFE"/>
          </a:solidFill>
          <a:ln w="15875">
            <a:solidFill>
              <a:srgbClr val="1D4ED8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1D4ED8"/>
                </a:solidFill>
                <a:latin typeface="Calibri"/>
              </a:rPr>
              <a:t>Slot targets</a:t>
            </a:r>
          </a:p>
          <a:p>
            <a:pPr algn="ctr">
              <a:spcBef>
                <a:spcPts val="400"/>
              </a:spcBef>
            </a:pPr>
            <a:r>
              <a:rPr sz="1200" b="0" i="0">
                <a:solidFill>
                  <a:srgbClr val="1F2937"/>
                </a:solidFill>
                <a:latin typeface="Calibri"/>
              </a:rPr>
              <a:t>VIP + 1 m at each angle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09744" y="4274820"/>
            <a:ext cx="237744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17" name="Rounded Rectangle 16"/>
          <p:cNvSpPr/>
          <p:nvPr/>
        </p:nvSpPr>
        <p:spPr>
          <a:xfrm>
            <a:off x="5047488" y="3657600"/>
            <a:ext cx="2057400" cy="1234440"/>
          </a:xfrm>
          <a:prstGeom prst="roundRect">
            <a:avLst>
              <a:gd name="adj" fmla="val 8888"/>
            </a:avLst>
          </a:prstGeom>
          <a:solidFill>
            <a:srgbClr val="E0E7FF"/>
          </a:solidFill>
          <a:ln w="15875">
            <a:solidFill>
              <a:srgbClr val="4338CA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4338CA"/>
                </a:solidFill>
                <a:latin typeface="Calibri"/>
              </a:rPr>
              <a:t>Sanity gate</a:t>
            </a:r>
          </a:p>
          <a:p>
            <a:pPr algn="ctr">
              <a:spcBef>
                <a:spcPts val="400"/>
              </a:spcBef>
            </a:pPr>
            <a:r>
              <a:rPr sz="1200" b="0" i="0">
                <a:solidFill>
                  <a:srgbClr val="1F2937"/>
                </a:solidFill>
                <a:latin typeface="Calibri"/>
              </a:rPr>
              <a:t>ignore a pose that is</a:t>
            </a:r>
          </a:p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implausibly far off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04888" y="4274820"/>
            <a:ext cx="237744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19" name="Rounded Rectangle 18"/>
          <p:cNvSpPr/>
          <p:nvPr/>
        </p:nvSpPr>
        <p:spPr>
          <a:xfrm>
            <a:off x="7342632" y="3657600"/>
            <a:ext cx="2057400" cy="1234440"/>
          </a:xfrm>
          <a:prstGeom prst="roundRect">
            <a:avLst>
              <a:gd name="adj" fmla="val 8888"/>
            </a:avLst>
          </a:prstGeom>
          <a:solidFill>
            <a:srgbClr val="DCFCE7"/>
          </a:solidFill>
          <a:ln w="15875">
            <a:solidFill>
              <a:srgbClr val="15803D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15803D"/>
                </a:solidFill>
                <a:latin typeface="Calibri"/>
              </a:rPr>
              <a:t>Safety filter</a:t>
            </a:r>
          </a:p>
          <a:p>
            <a:pPr algn="ctr">
              <a:spcBef>
                <a:spcPts val="400"/>
              </a:spcBef>
            </a:pPr>
            <a:r>
              <a:rPr sz="1200" b="0" i="0">
                <a:solidFill>
                  <a:srgbClr val="1F2937"/>
                </a:solidFill>
                <a:latin typeface="Calibri"/>
              </a:rPr>
              <a:t>per drone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400032" y="4274820"/>
            <a:ext cx="237744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21" name="Rounded Rectangle 20"/>
          <p:cNvSpPr/>
          <p:nvPr/>
        </p:nvSpPr>
        <p:spPr>
          <a:xfrm>
            <a:off x="9637776" y="3657600"/>
            <a:ext cx="2057400" cy="1234440"/>
          </a:xfrm>
          <a:prstGeom prst="roundRect">
            <a:avLst>
              <a:gd name="adj" fmla="val 8888"/>
            </a:avLst>
          </a:prstGeom>
          <a:solidFill>
            <a:srgbClr val="E2E8F0"/>
          </a:solidFill>
          <a:ln w="15875">
            <a:solidFill>
              <a:srgbClr val="334155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334155"/>
                </a:solidFill>
                <a:latin typeface="Calibri"/>
              </a:rPr>
              <a:t>Commands out</a:t>
            </a:r>
          </a:p>
          <a:p>
            <a:pPr algn="ctr">
              <a:spcBef>
                <a:spcPts val="400"/>
              </a:spcBef>
            </a:pPr>
            <a:r>
              <a:rPr sz="1200" b="0" i="0">
                <a:solidFill>
                  <a:srgbClr val="1F2937"/>
                </a:solidFill>
                <a:latin typeface="Calibri"/>
              </a:rPr>
              <a:t>position + velocity</a:t>
            </a:r>
          </a:p>
        </p:txBody>
      </p:sp>
      <p:sp>
        <p:nvSpPr>
          <p:cNvPr id="22" name="Freeform 21"/>
          <p:cNvSpPr/>
          <p:nvPr/>
        </p:nvSpPr>
        <p:spPr>
          <a:xfrm>
            <a:off x="1485900" y="2834640"/>
            <a:ext cx="9180576" cy="822960"/>
          </a:xfrm>
          <a:custGeom>
            <a:avLst/>
            <a:gdLst/>
            <a:ahLst/>
            <a:cxnLst/>
            <a:rect l="l" t="t" r="r" b="b"/>
            <a:pathLst>
              <a:path w="9180576" h="822960">
                <a:moveTo>
                  <a:pt x="9180576" y="0"/>
                </a:moveTo>
                <a:lnTo>
                  <a:pt x="9180576" y="411480"/>
                </a:lnTo>
                <a:lnTo>
                  <a:pt x="0" y="411480"/>
                </a:lnTo>
                <a:lnTo>
                  <a:pt x="0" y="822960"/>
                </a:lnTo>
              </a:path>
            </a:pathLst>
          </a:custGeom>
          <a:noFill/>
          <a:ln w="19050">
            <a:solidFill>
              <a:srgbClr val="1F293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On release the ring HOLDS its angle instead of turning back home; winding back made it oscillate with the attacker.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One control tick, end to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Who talks to whom in 1/20 s. Arrows down the page are time.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371600"/>
            <a:ext cx="2286000" cy="6858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5875">
            <a:solidFill>
              <a:srgbClr val="334155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334155"/>
                </a:solidFill>
                <a:latin typeface="Calibri"/>
              </a:rPr>
              <a:t>Mocap</a:t>
            </a:r>
          </a:p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/poses</a:t>
            </a:r>
          </a:p>
        </p:txBody>
      </p:sp>
      <p:sp>
        <p:nvSpPr>
          <p:cNvPr id="5" name="Freeform 4"/>
          <p:cNvSpPr/>
          <p:nvPr/>
        </p:nvSpPr>
        <p:spPr>
          <a:xfrm>
            <a:off x="1463040" y="2057400"/>
            <a:ext cx="0" cy="4251960"/>
          </a:xfrm>
          <a:custGeom>
            <a:avLst/>
            <a:gdLst/>
            <a:ahLst/>
            <a:cxnLst/>
            <a:rect l="l" t="t" r="r" b="b"/>
            <a:pathLst>
              <a:path w="0" h="4251960">
                <a:moveTo>
                  <a:pt x="0" y="0"/>
                </a:moveTo>
                <a:lnTo>
                  <a:pt x="0" y="4251960"/>
                </a:lnTo>
              </a:path>
            </a:pathLst>
          </a:custGeom>
          <a:noFill/>
          <a:ln w="15875">
            <a:solidFill>
              <a:srgbClr val="CBD5E1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37560" y="1371600"/>
            <a:ext cx="2286000" cy="6858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5875">
            <a:solidFill>
              <a:srgbClr val="4338CA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4338CA"/>
                </a:solidFill>
                <a:latin typeface="Calibri"/>
              </a:rPr>
              <a:t>escort_show</a:t>
            </a:r>
          </a:p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laptop</a:t>
            </a:r>
          </a:p>
        </p:txBody>
      </p:sp>
      <p:sp>
        <p:nvSpPr>
          <p:cNvPr id="7" name="Freeform 6"/>
          <p:cNvSpPr/>
          <p:nvPr/>
        </p:nvSpPr>
        <p:spPr>
          <a:xfrm>
            <a:off x="4480560" y="2057400"/>
            <a:ext cx="0" cy="4251960"/>
          </a:xfrm>
          <a:custGeom>
            <a:avLst/>
            <a:gdLst/>
            <a:ahLst/>
            <a:cxnLst/>
            <a:rect l="l" t="t" r="r" b="b"/>
            <a:pathLst>
              <a:path w="0" h="4251960">
                <a:moveTo>
                  <a:pt x="0" y="0"/>
                </a:moveTo>
                <a:lnTo>
                  <a:pt x="0" y="4251960"/>
                </a:lnTo>
              </a:path>
            </a:pathLst>
          </a:custGeom>
          <a:noFill/>
          <a:ln w="15875">
            <a:solidFill>
              <a:srgbClr val="CBD5E1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80" y="1371600"/>
            <a:ext cx="2286000" cy="6858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5875">
            <a:solidFill>
              <a:srgbClr val="4338CA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4338CA"/>
                </a:solidFill>
                <a:latin typeface="Calibri"/>
              </a:rPr>
              <a:t>crazyflie_server</a:t>
            </a:r>
          </a:p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laptop</a:t>
            </a:r>
          </a:p>
        </p:txBody>
      </p:sp>
      <p:sp>
        <p:nvSpPr>
          <p:cNvPr id="9" name="Freeform 8"/>
          <p:cNvSpPr/>
          <p:nvPr/>
        </p:nvSpPr>
        <p:spPr>
          <a:xfrm>
            <a:off x="7498080" y="2057400"/>
            <a:ext cx="0" cy="4251960"/>
          </a:xfrm>
          <a:custGeom>
            <a:avLst/>
            <a:gdLst/>
            <a:ahLst/>
            <a:cxnLst/>
            <a:rect l="l" t="t" r="r" b="b"/>
            <a:pathLst>
              <a:path w="0" h="4251960">
                <a:moveTo>
                  <a:pt x="0" y="0"/>
                </a:moveTo>
                <a:lnTo>
                  <a:pt x="0" y="4251960"/>
                </a:lnTo>
              </a:path>
            </a:pathLst>
          </a:custGeom>
          <a:noFill/>
          <a:ln w="15875">
            <a:solidFill>
              <a:srgbClr val="CBD5E1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72600" y="1371600"/>
            <a:ext cx="2286000" cy="6858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5875">
            <a:solidFill>
              <a:srgbClr val="1D4ED8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1D4ED8"/>
                </a:solidFill>
                <a:latin typeface="Calibri"/>
              </a:rPr>
              <a:t>Crazyflie</a:t>
            </a:r>
          </a:p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firmware</a:t>
            </a:r>
          </a:p>
        </p:txBody>
      </p:sp>
      <p:sp>
        <p:nvSpPr>
          <p:cNvPr id="11" name="Freeform 10"/>
          <p:cNvSpPr/>
          <p:nvPr/>
        </p:nvSpPr>
        <p:spPr>
          <a:xfrm>
            <a:off x="10515600" y="2057400"/>
            <a:ext cx="0" cy="4251960"/>
          </a:xfrm>
          <a:custGeom>
            <a:avLst/>
            <a:gdLst/>
            <a:ahLst/>
            <a:cxnLst/>
            <a:rect l="l" t="t" r="r" b="b"/>
            <a:pathLst>
              <a:path w="0" h="4251960">
                <a:moveTo>
                  <a:pt x="0" y="0"/>
                </a:moveTo>
                <a:lnTo>
                  <a:pt x="0" y="4251960"/>
                </a:lnTo>
              </a:path>
            </a:pathLst>
          </a:custGeom>
          <a:noFill/>
          <a:ln w="15875">
            <a:solidFill>
              <a:srgbClr val="CBD5E1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463040" y="2423160"/>
            <a:ext cx="3017520" cy="0"/>
          </a:xfrm>
          <a:prstGeom prst="line">
            <a:avLst/>
          </a:prstGeom>
          <a:ln w="22225">
            <a:solidFill>
              <a:srgbClr val="334155"/>
            </a:solidFill>
            <a:prstDash val="dash"/>
            <a:tailEnd type="triangle" w="med" len="med"/>
          </a:ln>
        </p:spPr>
      </p:cxnSp>
      <p:sp>
        <p:nvSpPr>
          <p:cNvPr id="13" name="TextBox 12"/>
          <p:cNvSpPr txBox="1"/>
          <p:nvPr/>
        </p:nvSpPr>
        <p:spPr>
          <a:xfrm>
            <a:off x="1600200" y="21305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latest poses (cached, 50 Hz)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63040" y="2788920"/>
            <a:ext cx="6035040" cy="0"/>
          </a:xfrm>
          <a:prstGeom prst="line">
            <a:avLst/>
          </a:prstGeom>
          <a:ln w="22225">
            <a:solidFill>
              <a:srgbClr val="334155"/>
            </a:solidFill>
            <a:prstDash val="dash"/>
            <a:tailEnd type="triangle" w="med" len="med"/>
          </a:ln>
        </p:spPr>
      </p:cxnSp>
      <p:sp>
        <p:nvSpPr>
          <p:cNvPr id="15" name="TextBox 14"/>
          <p:cNvSpPr txBox="1"/>
          <p:nvPr/>
        </p:nvSpPr>
        <p:spPr>
          <a:xfrm>
            <a:off x="1600200" y="2496312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same poses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98080" y="3154680"/>
            <a:ext cx="3017520" cy="0"/>
          </a:xfrm>
          <a:prstGeom prst="line">
            <a:avLst/>
          </a:prstGeom>
          <a:ln w="22225">
            <a:solidFill>
              <a:srgbClr val="334155"/>
            </a:solidFill>
            <a:prstDash val="dash"/>
            <a:tailEnd type="triangle" w="med" len="med"/>
          </a:ln>
        </p:spPr>
      </p:cxnSp>
      <p:sp>
        <p:nvSpPr>
          <p:cNvPr id="17" name="TextBox 16"/>
          <p:cNvSpPr txBox="1"/>
          <p:nvPr/>
        </p:nvSpPr>
        <p:spPr>
          <a:xfrm>
            <a:off x="7635240" y="286207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poses → onboard estimator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480560" y="4526280"/>
            <a:ext cx="3017520" cy="0"/>
          </a:xfrm>
          <a:prstGeom prst="line">
            <a:avLst/>
          </a:prstGeom>
          <a:ln w="22225">
            <a:solidFill>
              <a:srgbClr val="4338CA"/>
            </a:solidFill>
            <a:tailEnd type="triangle" w="med" len="med"/>
          </a:ln>
        </p:spPr>
      </p:cxnSp>
      <p:sp>
        <p:nvSpPr>
          <p:cNvPr id="19" name="TextBox 18"/>
          <p:cNvSpPr txBox="1"/>
          <p:nvPr/>
        </p:nvSpPr>
        <p:spPr>
          <a:xfrm>
            <a:off x="4617720" y="423367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cmd_full_state × 4 drones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498080" y="4892040"/>
            <a:ext cx="3017520" cy="0"/>
          </a:xfrm>
          <a:prstGeom prst="line">
            <a:avLst/>
          </a:prstGeom>
          <a:ln w="22225">
            <a:solidFill>
              <a:srgbClr val="334155"/>
            </a:solidFill>
            <a:tailEnd type="triangle" w="med" len="med"/>
          </a:ln>
        </p:spPr>
      </p:cxnSp>
      <p:sp>
        <p:nvSpPr>
          <p:cNvPr id="21" name="TextBox 20"/>
          <p:cNvSpPr txBox="1"/>
          <p:nvPr/>
        </p:nvSpPr>
        <p:spPr>
          <a:xfrm>
            <a:off x="7635240" y="459943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radio: position + velocity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54680" y="3383280"/>
            <a:ext cx="2651760" cy="731520"/>
          </a:xfrm>
          <a:prstGeom prst="roundRect">
            <a:avLst>
              <a:gd name="adj" fmla="val 15000"/>
            </a:avLst>
          </a:prstGeom>
          <a:solidFill>
            <a:srgbClr val="E0E7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checks, attacker model,</a:t>
            </a:r>
          </a:p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controller step, safety filter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5120640"/>
            <a:ext cx="2651760" cy="6858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drone’s own controller</a:t>
            </a:r>
          </a:p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tracks the setpoint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54680" y="5120640"/>
            <a:ext cx="2651760" cy="685800"/>
          </a:xfrm>
          <a:prstGeom prst="roundRect">
            <a:avLst>
              <a:gd name="adj" fmla="val 16000"/>
            </a:avLst>
          </a:prstGeom>
          <a:solidFill>
            <a:srgbClr val="E0E7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wait for the next tick,</a:t>
            </a:r>
          </a:p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still handling messages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How it is checked before it flies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The checker runs the SAME controller code as the flight script. Only the drones are simulated.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15875">
            <a:solidFill>
              <a:srgbClr val="15803D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900" b="1" i="0">
                <a:solidFill>
                  <a:srgbClr val="15803D"/>
                </a:solidFill>
                <a:latin typeface="Calibri"/>
              </a:rPr>
              <a:t>plan_escort</a:t>
            </a: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6B7280"/>
                </a:solidFill>
                <a:latin typeface="Calibri"/>
              </a:rPr>
              <a:t>pure Python, seconds</a:t>
            </a:r>
          </a:p>
          <a:p>
            <a:pPr algn="ctr">
              <a:spcBef>
                <a:spcPts val="1200"/>
              </a:spcBef>
            </a:pPr>
            <a:r>
              <a:rPr sz="1400" b="0" i="0">
                <a:solidFill>
                  <a:srgbClr val="1F2937"/>
                </a:solidFill>
                <a:latin typeface="Calibri"/>
              </a:rPr>
              <a:t>same controller objects;</a:t>
            </a:r>
          </a:p>
          <a:p>
            <a:pPr algn="ctr"/>
            <a:r>
              <a:rPr sz="1400" b="0" i="0">
                <a:solidFill>
                  <a:srgbClr val="1F2937"/>
                </a:solidFill>
                <a:latin typeface="Calibri"/>
              </a:rPr>
              <a:t>drones modelled as a simple lag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0" y="2743200"/>
            <a:ext cx="59436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</p:cxnSp>
      <p:sp>
        <p:nvSpPr>
          <p:cNvPr id="6" name="Rounded Rectangle 5"/>
          <p:cNvSpPr/>
          <p:nvPr/>
        </p:nvSpPr>
        <p:spPr>
          <a:xfrm>
            <a:off x="4434840" y="164592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E0E7FF"/>
          </a:solidFill>
          <a:ln w="15875">
            <a:solidFill>
              <a:srgbClr val="4338CA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900" b="1" i="0">
                <a:solidFill>
                  <a:srgbClr val="4338CA"/>
                </a:solidFill>
                <a:latin typeface="Calibri"/>
              </a:rPr>
              <a:t>Simulator</a:t>
            </a: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6B7280"/>
                </a:solidFill>
                <a:latin typeface="Calibri"/>
              </a:rPr>
              <a:t>full ROS stack</a:t>
            </a:r>
          </a:p>
          <a:p>
            <a:pPr algn="ctr">
              <a:spcBef>
                <a:spcPts val="1200"/>
              </a:spcBef>
            </a:pPr>
            <a:r>
              <a:rPr sz="1400" b="0" i="0">
                <a:solidFill>
                  <a:srgbClr val="1F2937"/>
                </a:solidFill>
                <a:latin typeface="Calibri"/>
              </a:rPr>
              <a:t>real show script, simulated</a:t>
            </a:r>
          </a:p>
          <a:p>
            <a:pPr algn="ctr"/>
            <a:r>
              <a:rPr sz="1400" b="0" i="0">
                <a:solidFill>
                  <a:srgbClr val="1F2937"/>
                </a:solidFill>
                <a:latin typeface="Calibri"/>
              </a:rPr>
              <a:t>drones (no mocap)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26680" y="2743200"/>
            <a:ext cx="59436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</p:cxnSp>
      <p:sp>
        <p:nvSpPr>
          <p:cNvPr id="8" name="Rounded Rectangle 7"/>
          <p:cNvSpPr/>
          <p:nvPr/>
        </p:nvSpPr>
        <p:spPr>
          <a:xfrm>
            <a:off x="8321040" y="164592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5875">
            <a:solidFill>
              <a:srgbClr val="1D4ED8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900" b="1" i="0">
                <a:solidFill>
                  <a:srgbClr val="1D4ED8"/>
                </a:solidFill>
                <a:latin typeface="Calibri"/>
              </a:rPr>
              <a:t>Hardware, in stages</a:t>
            </a: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6B7280"/>
                </a:solidFill>
                <a:latin typeface="Calibri"/>
              </a:rPr>
              <a:t>one change at a time</a:t>
            </a:r>
          </a:p>
          <a:p>
            <a:pPr algn="ctr">
              <a:spcBef>
                <a:spcPts val="1200"/>
              </a:spcBef>
            </a:pPr>
            <a:r>
              <a:rPr sz="1400" b="0" i="0">
                <a:solidFill>
                  <a:srgbClr val="1F2937"/>
                </a:solidFill>
                <a:latin typeface="Calibri"/>
              </a:rPr>
              <a:t>fixed point → DJI →</a:t>
            </a:r>
          </a:p>
          <a:p>
            <a:pPr algn="ctr"/>
            <a:r>
              <a:rPr sz="1400" b="0" i="0">
                <a:solidFill>
                  <a:srgbClr val="1F2937"/>
                </a:solidFill>
                <a:latin typeface="Calibri"/>
              </a:rPr>
              <a:t>attacker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60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Calibri"/>
              </a:rPr>
              <a:t>What a pass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4160520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Every distance, speed, room limit and altitude held for a whole simulated encounter, AND the ring stayed a 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00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Calibri"/>
              </a:rPr>
              <a:t>Sweeps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4800600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Find the limit, e.g. the fastest VIP walk at which everything still holds.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440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Calibri"/>
              </a:rPr>
              <a:t>Honest limits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5440680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The drone model is assumed, not measured. The simulator publishes no mocap, so position handling is first tested on hardware.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Design lessons that carry over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611880" cy="2240280"/>
          </a:xfrm>
          <a:prstGeom prst="roundRect">
            <a:avLst>
              <a:gd name="adj" fmla="val 4897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67512" y="1417320"/>
            <a:ext cx="310896" cy="3108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1732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D4ED8"/>
                </a:solidFill>
                <a:latin typeface="Calibri"/>
              </a:rPr>
              <a:t>Geometry over 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Rotate, never swap. The nearest slot leads. The inside track wins.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611880" cy="2240280"/>
          </a:xfrm>
          <a:prstGeom prst="roundRect">
            <a:avLst>
              <a:gd name="adj" fmla="val 4897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07992" y="1417320"/>
            <a:ext cx="310896" cy="310896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41732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5803D"/>
                </a:solidFill>
                <a:latin typeface="Calibri"/>
              </a:rPr>
              <a:t>Projections over forces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Hard limits are projections. The last one applied wins, so order is priority.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88720"/>
            <a:ext cx="3611880" cy="2240280"/>
          </a:xfrm>
          <a:prstGeom prst="roundRect">
            <a:avLst>
              <a:gd name="adj" fmla="val 4897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48472" y="1417320"/>
            <a:ext cx="310896" cy="310896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141732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B45309"/>
                </a:solidFill>
                <a:latin typeface="Calibri"/>
              </a:rPr>
              <a:t>Hysteresis everywhere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10312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Engage/release, blocker hand-over, gap choice, geofence re-entry.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03320"/>
            <a:ext cx="3611880" cy="2240280"/>
          </a:xfrm>
          <a:prstGeom prst="roundRect">
            <a:avLst>
              <a:gd name="adj" fmla="val 4897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7512" y="3931920"/>
            <a:ext cx="310896" cy="31089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93192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DC2626"/>
                </a:solidFill>
                <a:latin typeface="Calibri"/>
              </a:rPr>
              <a:t>Check the drone, not the command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Watch real positions and tracking error; ignore implausible measurements.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703320"/>
            <a:ext cx="3611880" cy="2240280"/>
          </a:xfrm>
          <a:prstGeom prst="roundRect">
            <a:avLst>
              <a:gd name="adj" fmla="val 4897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07992" y="3931920"/>
            <a:ext cx="310896" cy="310896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393192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4338CA"/>
                </a:solidFill>
                <a:latin typeface="Calibri"/>
              </a:rPr>
              <a:t>Never block the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61772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Waiting for a human still streams. Humans pace the attacker, never the defence.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703320"/>
            <a:ext cx="3611880" cy="2240280"/>
          </a:xfrm>
          <a:prstGeom prst="roundRect">
            <a:avLst>
              <a:gd name="adj" fmla="val 4897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48472" y="3931920"/>
            <a:ext cx="310896" cy="310896"/>
          </a:xfrm>
          <a:prstGeom prst="ellipse">
            <a:avLst/>
          </a:prstGeom>
          <a:solidFill>
            <a:srgbClr val="3341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393192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334155"/>
                </a:solidFill>
                <a:latin typeface="Calibri"/>
              </a:rPr>
              <a:t>One source of truth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61772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The checker runs the flight code. The room lives in one file. Directions rotate with the frame.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The lab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Only the laptop ↔ Motive link uses the network. The drones never join it: they use the radio.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 w="15875">
            <a:solidFill>
              <a:srgbClr val="334155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600" b="1" i="0">
                <a:solidFill>
                  <a:srgbClr val="1F2937"/>
                </a:solidFill>
                <a:latin typeface="Calibri"/>
              </a:rPr>
              <a:t>OptiTrack cameras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up to 240 Hz</a:t>
            </a:r>
          </a:p>
        </p:txBody>
      </p:sp>
      <p:sp>
        <p:nvSpPr>
          <p:cNvPr id="5" name="Freeform 4"/>
          <p:cNvSpPr/>
          <p:nvPr/>
        </p:nvSpPr>
        <p:spPr>
          <a:xfrm>
            <a:off x="2194560" y="2377440"/>
            <a:ext cx="0" cy="411480"/>
          </a:xfrm>
          <a:custGeom>
            <a:avLst/>
            <a:gdLst/>
            <a:ahLst/>
            <a:cxnLst/>
            <a:rect l="l" t="t" r="r" b="b"/>
            <a:pathLst>
              <a:path w="0" h="411480">
                <a:moveTo>
                  <a:pt x="0" y="0"/>
                </a:moveTo>
                <a:lnTo>
                  <a:pt x="0" y="411480"/>
                </a:lnTo>
              </a:path>
            </a:pathLst>
          </a:custGeom>
          <a:noFill/>
          <a:ln w="19050">
            <a:solidFill>
              <a:srgbClr val="33415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31720" y="242316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LAN cable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8892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 w="15875">
            <a:solidFill>
              <a:srgbClr val="334155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600" b="1" i="0">
                <a:solidFill>
                  <a:srgbClr val="1F2937"/>
                </a:solidFill>
                <a:latin typeface="Calibri"/>
              </a:rPr>
              <a:t>Mocap router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cameras only</a:t>
            </a:r>
          </a:p>
        </p:txBody>
      </p:sp>
      <p:sp>
        <p:nvSpPr>
          <p:cNvPr id="8" name="Freeform 7"/>
          <p:cNvSpPr/>
          <p:nvPr/>
        </p:nvSpPr>
        <p:spPr>
          <a:xfrm>
            <a:off x="2194560" y="3703320"/>
            <a:ext cx="0" cy="411480"/>
          </a:xfrm>
          <a:custGeom>
            <a:avLst/>
            <a:gdLst/>
            <a:ahLst/>
            <a:cxnLst/>
            <a:rect l="l" t="t" r="r" b="b"/>
            <a:pathLst>
              <a:path w="0" h="411480">
                <a:moveTo>
                  <a:pt x="0" y="0"/>
                </a:moveTo>
                <a:lnTo>
                  <a:pt x="0" y="411480"/>
                </a:lnTo>
              </a:path>
            </a:pathLst>
          </a:custGeom>
          <a:noFill/>
          <a:ln w="19050">
            <a:solidFill>
              <a:srgbClr val="33415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374904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LAN cable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 w="15875">
            <a:solidFill>
              <a:srgbClr val="334155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600" b="1" i="0">
                <a:solidFill>
                  <a:srgbClr val="1F2937"/>
                </a:solidFill>
                <a:latin typeface="Calibri"/>
              </a:rPr>
              <a:t>Motive PC (Windows)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streams NatNet multicast, 50 Hz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10312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 w="15875">
            <a:solidFill>
              <a:srgbClr val="334155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600" b="1" i="0">
                <a:solidFill>
                  <a:srgbClr val="1F2937"/>
                </a:solidFill>
                <a:latin typeface="Calibri"/>
              </a:rPr>
              <a:t>Hangar switch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wired</a:t>
            </a:r>
          </a:p>
        </p:txBody>
      </p:sp>
      <p:sp>
        <p:nvSpPr>
          <p:cNvPr id="12" name="Freeform 11"/>
          <p:cNvSpPr/>
          <p:nvPr/>
        </p:nvSpPr>
        <p:spPr>
          <a:xfrm>
            <a:off x="6080760" y="3017520"/>
            <a:ext cx="0" cy="411480"/>
          </a:xfrm>
          <a:custGeom>
            <a:avLst/>
            <a:gdLst/>
            <a:ahLst/>
            <a:cxnLst/>
            <a:rect l="l" t="t" r="r" b="b"/>
            <a:pathLst>
              <a:path w="0" h="411480">
                <a:moveTo>
                  <a:pt x="0" y="0"/>
                </a:moveTo>
                <a:lnTo>
                  <a:pt x="0" y="411480"/>
                </a:lnTo>
              </a:path>
            </a:pathLst>
          </a:custGeom>
          <a:noFill/>
          <a:ln w="19050">
            <a:solidFill>
              <a:srgbClr val="33415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342900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 w="15875">
            <a:solidFill>
              <a:srgbClr val="334155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600" b="1" i="0">
                <a:solidFill>
                  <a:srgbClr val="1F2937"/>
                </a:solidFill>
                <a:latin typeface="Calibri"/>
              </a:rPr>
              <a:t>Lab router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5 GHz Wi-Fi, same subnet as Motive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840480" y="2560320"/>
            <a:ext cx="731520" cy="1645920"/>
          </a:xfrm>
          <a:prstGeom prst="line">
            <a:avLst/>
          </a:prstGeom>
          <a:ln w="25400">
            <a:solidFill>
              <a:srgbClr val="4338CA"/>
            </a:solidFill>
            <a:tailEnd type="triangle" w="med" len="med"/>
          </a:ln>
        </p:spPr>
      </p:cxnSp>
      <p:sp>
        <p:nvSpPr>
          <p:cNvPr id="15" name="TextBox 14"/>
          <p:cNvSpPr txBox="1"/>
          <p:nvPr/>
        </p:nvSpPr>
        <p:spPr>
          <a:xfrm>
            <a:off x="4224528" y="352044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338CA"/>
                </a:solidFill>
                <a:latin typeface="Calibri"/>
              </a:rPr>
              <a:t>positions</a:t>
            </a:r>
          </a:p>
          <a:p>
            <a:pPr algn="l"/>
            <a:r>
              <a:rPr sz="1100" b="0" i="0">
                <a:solidFill>
                  <a:srgbClr val="4338CA"/>
                </a:solidFill>
                <a:latin typeface="Calibri"/>
              </a:rPr>
              <a:t>(wired)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342900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E0E7FF"/>
          </a:solidFill>
          <a:ln w="15875">
            <a:solidFill>
              <a:srgbClr val="4338CA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600" b="1" i="0">
                <a:solidFill>
                  <a:srgbClr val="1F2937"/>
                </a:solidFill>
                <a:latin typeface="Calibri"/>
              </a:rPr>
              <a:t>Laptop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ROS 2, the escort show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89520" y="3886200"/>
            <a:ext cx="731520" cy="0"/>
          </a:xfrm>
          <a:prstGeom prst="line">
            <a:avLst/>
          </a:prstGeom>
          <a:ln w="25400">
            <a:solidFill>
              <a:srgbClr val="4338CA"/>
            </a:solidFill>
            <a:tailEnd type="triangle" w="med" len="med"/>
          </a:ln>
        </p:spPr>
      </p:cxnSp>
      <p:sp>
        <p:nvSpPr>
          <p:cNvPr id="18" name="TextBox 17"/>
          <p:cNvSpPr txBox="1"/>
          <p:nvPr/>
        </p:nvSpPr>
        <p:spPr>
          <a:xfrm>
            <a:off x="7543800" y="3429000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4338CA"/>
                </a:solidFill>
                <a:latin typeface="Calibri"/>
              </a:rPr>
              <a:t>Wi-Fi</a:t>
            </a:r>
          </a:p>
          <a:p>
            <a:pPr algn="ctr"/>
            <a:r>
              <a:rPr sz="1100" b="0" i="0">
                <a:solidFill>
                  <a:srgbClr val="4338CA"/>
                </a:solidFill>
                <a:latin typeface="Calibri"/>
              </a:rPr>
              <a:t>or cable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4800600"/>
            <a:ext cx="3291840" cy="73152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 w="15875">
            <a:solidFill>
              <a:srgbClr val="334155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1F2937"/>
                </a:solidFill>
                <a:latin typeface="Calibri"/>
              </a:rPr>
              <a:t>Crazyradio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966960" y="4343400"/>
            <a:ext cx="0" cy="457200"/>
          </a:xfrm>
          <a:prstGeom prst="line">
            <a:avLst/>
          </a:prstGeom>
          <a:ln w="19050">
            <a:solidFill>
              <a:srgbClr val="334155"/>
            </a:solidFill>
            <a:tailEnd type="triangle" w="med" len="med"/>
          </a:ln>
        </p:spPr>
      </p:cxnSp>
      <p:sp>
        <p:nvSpPr>
          <p:cNvPr id="21" name="Oval 20"/>
          <p:cNvSpPr/>
          <p:nvPr/>
        </p:nvSpPr>
        <p:spPr>
          <a:xfrm>
            <a:off x="8616574" y="5827654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847003" y="5827654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16574" y="6058083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847003" y="6058083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739469" y="5950549"/>
            <a:ext cx="168981" cy="168981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393814" y="5827654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24243" y="5827654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393814" y="6058083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24243" y="6058083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516709" y="5950549"/>
            <a:ext cx="168981" cy="168981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171054" y="5827654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401483" y="5827654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71054" y="6058083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401483" y="6058083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293949" y="5950549"/>
            <a:ext cx="168981" cy="168981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948294" y="5827654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178723" y="5827654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948294" y="6058083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178723" y="6058083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1071189" y="5950549"/>
            <a:ext cx="168981" cy="168981"/>
          </a:xfrm>
          <a:prstGeom prst="roundRect">
            <a:avLst/>
          </a:prstGeom>
          <a:solidFill>
            <a:srgbClr val="DC2626"/>
          </a:solidFill>
          <a:ln w="15875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9966960" y="5532120"/>
            <a:ext cx="0" cy="228600"/>
          </a:xfrm>
          <a:prstGeom prst="line">
            <a:avLst/>
          </a:prstGeom>
          <a:ln w="19050">
            <a:solidFill>
              <a:srgbClr val="334155"/>
            </a:solidFill>
            <a:tailEnd type="triangle" w="med" len="med"/>
          </a:ln>
        </p:spPr>
      </p:cxnSp>
      <p:sp>
        <p:nvSpPr>
          <p:cNvPr id="42" name="Rounded Rectangle 41"/>
          <p:cNvSpPr/>
          <p:nvPr/>
        </p:nvSpPr>
        <p:spPr>
          <a:xfrm>
            <a:off x="548640" y="5623560"/>
            <a:ext cx="7040880" cy="777240"/>
          </a:xfrm>
          <a:prstGeom prst="roundRect">
            <a:avLst>
              <a:gd name="adj" fmla="val 14117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Changing the laptop from Wi-Fi to cable (or back) changes the Motive address. Leave hostname: "auto" in motion_capture.yaml and the launch finds Motive by itself.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Calibri"/>
              </a:rPr>
              <a:t>Strike and guard: one problem, two demos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Calibri"/>
              </a:rPr>
              <a:t>Small drones with no sensors of their own, guarding something against attackers.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5486400" cy="4343400"/>
          </a:xfrm>
          <a:prstGeom prst="roundRect">
            <a:avLst>
              <a:gd name="adj" fmla="val 2526"/>
            </a:avLst>
          </a:prstGeom>
          <a:solidFill>
            <a:srgbClr val="DBEAF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D4ED8"/>
                </a:solidFill>
                <a:latin typeface="Calibri"/>
              </a:rPr>
              <a:t>Escort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guard a moving VIP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Calibri"/>
              </a:rP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260604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3 defenders, 1 attacker (4 drones)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2783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Calibri"/>
              </a:rPr>
              <a:t>Guards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3227832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a hand-flown DJI that moves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962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Calibri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849624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reacts to the cameras 20 times a second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7141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Calibri"/>
              </a:rPr>
              <a:t>Checked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4471416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every command, live, before it is sent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9320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Calibri"/>
              </a:rPr>
              <a:t>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5093208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flown for guests, 8 Oct 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417320"/>
            <a:ext cx="5486400" cy="4343400"/>
          </a:xfrm>
          <a:prstGeom prst="roundRect">
            <a:avLst>
              <a:gd name="adj" fmla="val 2526"/>
            </a:avLst>
          </a:prstGeom>
          <a:solidFill>
            <a:srgbClr val="FAE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5544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C026D3"/>
                </a:solidFill>
                <a:latin typeface="Calibri"/>
              </a:rPr>
              <a:t>STL game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0116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guard a goal 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60604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026D3"/>
                </a:solidFill>
                <a:latin typeface="Calibri"/>
              </a:rPr>
              <a:t>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60604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5 defenders, 5 intruders (10 drones, 2 radios)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22783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026D3"/>
                </a:solidFill>
                <a:latin typeface="Calibri"/>
              </a:rPr>
              <a:t>Guards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227832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five goals on one edge of the square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84962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026D3"/>
                </a:solidFill>
                <a:latin typeface="Calibri"/>
              </a:rPr>
              <a:t>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3849624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the whole flight is planned before take-off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47141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026D3"/>
                </a:solidFill>
                <a:latin typeface="Calibri"/>
              </a:rPr>
              <a:t>Checked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471416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every moment of the planned flight, before arming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09320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026D3"/>
                </a:solidFill>
                <a:latin typeface="Calibri"/>
              </a:rPr>
              <a:t>Status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5093208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simulator only with this repo's show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897880"/>
            <a:ext cx="11292840" cy="54864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Shared: the same cameras, radio, server, safety code (abort, preflight, room limits) and flight-day routine.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Calibri"/>
              </a:rPr>
              <a:t>The STL game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Calibri"/>
              </a:rPr>
              <a:t>Seen from above. Intruders cross the square to their goals; defenders try to stop them.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4754880" cy="4754880"/>
          </a:xfrm>
          <a:prstGeom prst="rect">
            <a:avLst/>
          </a:prstGeom>
          <a:solidFill>
            <a:srgbClr val="F1F5F9"/>
          </a:solidFill>
          <a:ln w="15875">
            <a:solidFill>
              <a:srgbClr val="CBD5E1"/>
            </a:solidFill>
            <a:prstDash val="dash"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game square, 4 m × 4 m</a:t>
            </a:r>
          </a:p>
        </p:txBody>
      </p:sp>
      <p:sp>
        <p:nvSpPr>
          <p:cNvPr id="6" name="Oval 5"/>
          <p:cNvSpPr/>
          <p:nvPr/>
        </p:nvSpPr>
        <p:spPr>
          <a:xfrm>
            <a:off x="5199278" y="5596128"/>
            <a:ext cx="201168" cy="201168"/>
          </a:xfrm>
          <a:prstGeom prst="ellipse">
            <a:avLst/>
          </a:prstGeom>
          <a:solidFill>
            <a:srgbClr val="DCFCE7"/>
          </a:solidFill>
          <a:ln w="19050">
            <a:solidFill>
              <a:srgbClr val="1580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199278" y="4882896"/>
            <a:ext cx="201168" cy="201168"/>
          </a:xfrm>
          <a:prstGeom prst="ellipse">
            <a:avLst/>
          </a:prstGeom>
          <a:solidFill>
            <a:srgbClr val="DCFCE7"/>
          </a:solidFill>
          <a:ln w="19050">
            <a:solidFill>
              <a:srgbClr val="1580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99278" y="3931920"/>
            <a:ext cx="201168" cy="201168"/>
          </a:xfrm>
          <a:prstGeom prst="ellipse">
            <a:avLst/>
          </a:prstGeom>
          <a:solidFill>
            <a:srgbClr val="DCFCE7"/>
          </a:solidFill>
          <a:ln w="19050">
            <a:solidFill>
              <a:srgbClr val="1580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199278" y="2790749"/>
            <a:ext cx="201168" cy="201168"/>
          </a:xfrm>
          <a:prstGeom prst="ellipse">
            <a:avLst/>
          </a:prstGeom>
          <a:solidFill>
            <a:srgbClr val="DCFCE7"/>
          </a:solidFill>
          <a:ln w="19050">
            <a:solidFill>
              <a:srgbClr val="1580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99278" y="1792224"/>
            <a:ext cx="201168" cy="201168"/>
          </a:xfrm>
          <a:prstGeom prst="ellipse">
            <a:avLst/>
          </a:prstGeom>
          <a:solidFill>
            <a:srgbClr val="DCFCE7"/>
          </a:solidFill>
          <a:ln w="19050">
            <a:solidFill>
              <a:srgbClr val="1580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665122" y="5637276"/>
            <a:ext cx="3218688" cy="59436"/>
          </a:xfrm>
          <a:prstGeom prst="line">
            <a:avLst/>
          </a:prstGeom>
          <a:ln w="15875">
            <a:solidFill>
              <a:srgbClr val="C026D3"/>
            </a:solidFill>
            <a:prstDash val="dash"/>
            <a:tailEnd type="triangle" w="med" len="med"/>
          </a:ln>
        </p:spPr>
      </p:cxnSp>
      <p:cxnSp>
        <p:nvCxnSpPr>
          <p:cNvPr id="12" name="Connector 11"/>
          <p:cNvCxnSpPr/>
          <p:nvPr/>
        </p:nvCxnSpPr>
        <p:spPr>
          <a:xfrm>
            <a:off x="1641348" y="4793285"/>
            <a:ext cx="3242462" cy="190195"/>
          </a:xfrm>
          <a:prstGeom prst="line">
            <a:avLst/>
          </a:prstGeom>
          <a:ln w="15875">
            <a:solidFill>
              <a:srgbClr val="C026D3"/>
            </a:solidFill>
            <a:prstDash val="dash"/>
            <a:tailEnd type="triangle" w="med" len="med"/>
          </a:ln>
        </p:spPr>
      </p:cxnSp>
      <p:cxnSp>
        <p:nvCxnSpPr>
          <p:cNvPr id="13" name="Connector 12"/>
          <p:cNvCxnSpPr/>
          <p:nvPr/>
        </p:nvCxnSpPr>
        <p:spPr>
          <a:xfrm>
            <a:off x="1724558" y="4008730"/>
            <a:ext cx="3159252" cy="23774"/>
          </a:xfrm>
          <a:prstGeom prst="line">
            <a:avLst/>
          </a:prstGeom>
          <a:ln w="15875">
            <a:solidFill>
              <a:srgbClr val="C026D3"/>
            </a:solidFill>
            <a:prstDash val="dash"/>
            <a:tailEnd type="triangle" w="med" len="med"/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760220" y="2891333"/>
            <a:ext cx="3123590" cy="368503"/>
          </a:xfrm>
          <a:prstGeom prst="line">
            <a:avLst/>
          </a:prstGeom>
          <a:ln w="15875">
            <a:solidFill>
              <a:srgbClr val="C026D3"/>
            </a:solidFill>
            <a:prstDash val="dash"/>
            <a:tailEnd type="triangle" w="med" len="med"/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819656" y="1892808"/>
            <a:ext cx="3064154" cy="618134"/>
          </a:xfrm>
          <a:prstGeom prst="line">
            <a:avLst/>
          </a:prstGeom>
          <a:ln w="15875">
            <a:solidFill>
              <a:srgbClr val="C026D3"/>
            </a:solidFill>
            <a:prstDash val="dash"/>
            <a:tailEnd type="triangle" w="med" len="med"/>
          </a:ln>
        </p:spPr>
      </p:cxnSp>
      <p:sp>
        <p:nvSpPr>
          <p:cNvPr id="16" name="Oval 15"/>
          <p:cNvSpPr/>
          <p:nvPr/>
        </p:nvSpPr>
        <p:spPr>
          <a:xfrm>
            <a:off x="1229136" y="5429890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26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59565" y="5429890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26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29136" y="5660319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26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59565" y="5660319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26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352032" y="5552785"/>
            <a:ext cx="168981" cy="168981"/>
          </a:xfrm>
          <a:prstGeom prst="roundRect">
            <a:avLst/>
          </a:prstGeom>
          <a:solidFill>
            <a:srgbClr val="C026D3"/>
          </a:solidFill>
          <a:ln w="15875">
            <a:solidFill>
              <a:srgbClr val="C026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05362" y="4585899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26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35791" y="4585899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26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05362" y="4816328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26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35791" y="4816328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26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328257" y="4708794"/>
            <a:ext cx="168981" cy="168981"/>
          </a:xfrm>
          <a:prstGeom prst="roundRect">
            <a:avLst/>
          </a:prstGeom>
          <a:solidFill>
            <a:srgbClr val="C026D3"/>
          </a:solidFill>
          <a:ln w="15875">
            <a:solidFill>
              <a:srgbClr val="C026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288572" y="3801344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26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519001" y="3801344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26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288572" y="4031772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26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519001" y="4031772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26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411468" y="3924239"/>
            <a:ext cx="168981" cy="168981"/>
          </a:xfrm>
          <a:prstGeom prst="roundRect">
            <a:avLst/>
          </a:prstGeom>
          <a:solidFill>
            <a:srgbClr val="C026D3"/>
          </a:solidFill>
          <a:ln w="15875">
            <a:solidFill>
              <a:srgbClr val="C026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4234" y="3052450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26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554663" y="3052450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26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24234" y="3282879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26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554663" y="3282879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26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447129" y="3175345"/>
            <a:ext cx="168981" cy="168981"/>
          </a:xfrm>
          <a:prstGeom prst="roundRect">
            <a:avLst/>
          </a:prstGeom>
          <a:solidFill>
            <a:srgbClr val="C026D3"/>
          </a:solidFill>
          <a:ln w="15875">
            <a:solidFill>
              <a:srgbClr val="C026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383670" y="2303556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26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614099" y="2303556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26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383670" y="2533985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26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614099" y="2533985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26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506565" y="2426452"/>
            <a:ext cx="168981" cy="168981"/>
          </a:xfrm>
          <a:prstGeom prst="roundRect">
            <a:avLst/>
          </a:prstGeom>
          <a:solidFill>
            <a:srgbClr val="C026D3"/>
          </a:solidFill>
          <a:ln w="15875">
            <a:solidFill>
              <a:srgbClr val="C026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236598" y="5667634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467027" y="5667634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236598" y="5898063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7027" y="5898063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359493" y="5790529"/>
            <a:ext cx="168981" cy="168981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284147" y="4787981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514576" y="4787981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284147" y="5018410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514576" y="5018410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407042" y="4910877"/>
            <a:ext cx="168981" cy="168981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224711" y="3777569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455140" y="3777569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224711" y="4007998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455140" y="4007998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347606" y="3900465"/>
            <a:ext cx="168981" cy="168981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355470" y="2826593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585899" y="2826593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355470" y="3057022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585899" y="3057022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478365" y="2949489"/>
            <a:ext cx="168981" cy="168981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379244" y="2018264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609673" y="2018264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379244" y="2248692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609673" y="2248692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4502140" y="2141159"/>
            <a:ext cx="168981" cy="168981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035040" y="1536192"/>
            <a:ext cx="310896" cy="310896"/>
          </a:xfrm>
          <a:prstGeom prst="ellipse">
            <a:avLst/>
          </a:prstGeom>
          <a:solidFill>
            <a:srgbClr val="C026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37960" y="15087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C026D3"/>
                </a:solidFill>
                <a:latin typeface="Calibri"/>
              </a:rPr>
              <a:t>Five intruders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37960" y="1856232"/>
            <a:ext cx="5120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Start on the left. Each heads for its own goal on the right edge, dodging and faking.</a:t>
            </a:r>
          </a:p>
        </p:txBody>
      </p:sp>
      <p:sp>
        <p:nvSpPr>
          <p:cNvPr id="69" name="Oval 68"/>
          <p:cNvSpPr/>
          <p:nvPr/>
        </p:nvSpPr>
        <p:spPr>
          <a:xfrm>
            <a:off x="6035040" y="2651760"/>
            <a:ext cx="310896" cy="3108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37960" y="262432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D4ED8"/>
                </a:solidFill>
                <a:latin typeface="Calibri"/>
              </a:rPr>
              <a:t>Five defenders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37960" y="2971800"/>
            <a:ext cx="5120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Start near the goal line. Each is matched to an intruder, the most urgent first.</a:t>
            </a:r>
          </a:p>
        </p:txBody>
      </p:sp>
      <p:sp>
        <p:nvSpPr>
          <p:cNvPr id="72" name="Oval 71"/>
          <p:cNvSpPr/>
          <p:nvPr/>
        </p:nvSpPr>
        <p:spPr>
          <a:xfrm>
            <a:off x="6035040" y="3767328"/>
            <a:ext cx="310896" cy="310896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37960" y="3739896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5803D"/>
                </a:solidFill>
                <a:latin typeface="Calibri"/>
              </a:rPr>
              <a:t>Goals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37960" y="4087368"/>
            <a:ext cx="5120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An intruder that reaches its goal scores (REACHED).</a:t>
            </a:r>
          </a:p>
        </p:txBody>
      </p:sp>
      <p:sp>
        <p:nvSpPr>
          <p:cNvPr id="75" name="Oval 74"/>
          <p:cNvSpPr/>
          <p:nvPr/>
        </p:nvSpPr>
        <p:spPr>
          <a:xfrm>
            <a:off x="6035040" y="4882896"/>
            <a:ext cx="310896" cy="31089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37960" y="4855464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C2626"/>
                </a:solidFill>
                <a:latin typeface="Calibri"/>
              </a:rPr>
              <a:t>Blocked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37960" y="5202936"/>
            <a:ext cx="5120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An intruder a defender pins in place is BLOCKED and lands at once.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Calibri"/>
              </a:rPr>
              <a:t>Plan the whole flight, then fly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Calibri"/>
              </a:rPr>
              <a:t>The game never reads the cameras while it plays, so one number (the seed) fixes the flight.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2514600" cy="1737360"/>
          </a:xfrm>
          <a:prstGeom prst="roundRect">
            <a:avLst>
              <a:gd name="adj" fmla="val 6315"/>
            </a:avLst>
          </a:prstGeom>
          <a:solidFill>
            <a:srgbClr val="E2E8F0"/>
          </a:solidFill>
          <a:ln w="15875">
            <a:solidFill>
              <a:srgbClr val="334155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800" b="1">
                <a:solidFill>
                  <a:srgbClr val="334155"/>
                </a:solidFill>
                <a:latin typeface="Calibri"/>
              </a:rPr>
              <a:t>1  SEED</a:t>
            </a:r>
          </a:p>
          <a:p>
            <a:pPr algn="ctr">
              <a:spcBef>
                <a:spcPts val="800"/>
              </a:spcBef>
            </a:pPr>
            <a:r>
              <a:rPr sz="1400" b="0">
                <a:solidFill>
                  <a:srgbClr val="1F2937"/>
                </a:solidFill>
                <a:latin typeface="Calibri"/>
              </a:rPr>
              <a:t>one number, printed</a:t>
            </a:r>
          </a:p>
          <a:p>
            <a:pPr algn="ctr"/>
            <a:r>
              <a:rPr sz="1400" b="0">
                <a:solidFill>
                  <a:srgbClr val="1F2937"/>
                </a:solidFill>
                <a:latin typeface="Calibri"/>
              </a:rPr>
              <a:t>every run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017520" y="2560320"/>
            <a:ext cx="36576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</p:cxnSp>
      <p:sp>
        <p:nvSpPr>
          <p:cNvPr id="6" name="Rounded Rectangle 5"/>
          <p:cNvSpPr/>
          <p:nvPr/>
        </p:nvSpPr>
        <p:spPr>
          <a:xfrm>
            <a:off x="3383280" y="1691640"/>
            <a:ext cx="2514600" cy="1737360"/>
          </a:xfrm>
          <a:prstGeom prst="roundRect">
            <a:avLst>
              <a:gd name="adj" fmla="val 6315"/>
            </a:avLst>
          </a:prstGeom>
          <a:solidFill>
            <a:srgbClr val="E0E7FF"/>
          </a:solidFill>
          <a:ln w="15875">
            <a:solidFill>
              <a:srgbClr val="4338CA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800" b="1">
                <a:solidFill>
                  <a:srgbClr val="4338CA"/>
                </a:solidFill>
                <a:latin typeface="Calibri"/>
              </a:rPr>
              <a:t>2  PLAY</a:t>
            </a:r>
          </a:p>
          <a:p>
            <a:pPr algn="ctr">
              <a:spcBef>
                <a:spcPts val="800"/>
              </a:spcBef>
            </a:pPr>
            <a:r>
              <a:rPr sz="1400" b="0">
                <a:solidFill>
                  <a:srgbClr val="1F2937"/>
                </a:solidFill>
                <a:latin typeface="Calibri"/>
              </a:rPr>
              <a:t>the laptop plays the</a:t>
            </a:r>
          </a:p>
          <a:p>
            <a:pPr algn="ctr"/>
            <a:r>
              <a:rPr sz="1400" b="0">
                <a:solidFill>
                  <a:srgbClr val="1F2937"/>
                </a:solidFill>
                <a:latin typeface="Calibri"/>
              </a:rPr>
              <a:t>whole game (~1 s)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97880" y="2560320"/>
            <a:ext cx="36576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</p:cxnSp>
      <p:sp>
        <p:nvSpPr>
          <p:cNvPr id="8" name="Rounded Rectangle 7"/>
          <p:cNvSpPr/>
          <p:nvPr/>
        </p:nvSpPr>
        <p:spPr>
          <a:xfrm>
            <a:off x="6263640" y="1691640"/>
            <a:ext cx="2514600" cy="1737360"/>
          </a:xfrm>
          <a:prstGeom prst="roundRect">
            <a:avLst>
              <a:gd name="adj" fmla="val 6315"/>
            </a:avLst>
          </a:prstGeom>
          <a:solidFill>
            <a:srgbClr val="DCFCE7"/>
          </a:solidFill>
          <a:ln w="15875">
            <a:solidFill>
              <a:srgbClr val="15803D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800" b="1">
                <a:solidFill>
                  <a:srgbClr val="15803D"/>
                </a:solidFill>
                <a:latin typeface="Calibri"/>
              </a:rPr>
              <a:t>3  CHECK</a:t>
            </a:r>
          </a:p>
          <a:p>
            <a:pPr algn="ctr">
              <a:spcBef>
                <a:spcPts val="800"/>
              </a:spcBef>
            </a:pPr>
            <a:r>
              <a:rPr sz="1400" b="0">
                <a:solidFill>
                  <a:srgbClr val="1F2937"/>
                </a:solidFill>
                <a:latin typeface="Calibri"/>
              </a:rPr>
              <a:t>every moment: spacing,</a:t>
            </a:r>
          </a:p>
          <a:p>
            <a:pPr algn="ctr"/>
            <a:r>
              <a:rPr sz="1400" b="0">
                <a:solidFill>
                  <a:srgbClr val="1F2937"/>
                </a:solidFill>
                <a:latin typeface="Calibri"/>
              </a:rPr>
              <a:t>speed, start move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78240" y="2560320"/>
            <a:ext cx="36576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</p:cxnSp>
      <p:sp>
        <p:nvSpPr>
          <p:cNvPr id="10" name="Rounded Rectangle 9"/>
          <p:cNvSpPr/>
          <p:nvPr/>
        </p:nvSpPr>
        <p:spPr>
          <a:xfrm>
            <a:off x="9144000" y="1691640"/>
            <a:ext cx="2514600" cy="1737360"/>
          </a:xfrm>
          <a:prstGeom prst="roundRect">
            <a:avLst>
              <a:gd name="adj" fmla="val 6315"/>
            </a:avLst>
          </a:prstGeom>
          <a:solidFill>
            <a:srgbClr val="DBEAFE"/>
          </a:solidFill>
          <a:ln w="15875">
            <a:solidFill>
              <a:srgbClr val="1D4ED8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800" b="1">
                <a:solidFill>
                  <a:srgbClr val="1D4ED8"/>
                </a:solidFill>
                <a:latin typeface="Calibri"/>
              </a:rPr>
              <a:t>4  FLY</a:t>
            </a:r>
          </a:p>
          <a:p>
            <a:pPr algn="ctr">
              <a:spcBef>
                <a:spcPts val="800"/>
              </a:spcBef>
            </a:pPr>
            <a:r>
              <a:rPr sz="1400" b="0">
                <a:solidFill>
                  <a:srgbClr val="1F2937"/>
                </a:solidFill>
                <a:latin typeface="Calibri"/>
              </a:rPr>
              <a:t>send exactly the moves</a:t>
            </a:r>
          </a:p>
          <a:p>
            <a:pPr algn="ctr"/>
            <a:r>
              <a:rPr sz="1400" b="0">
                <a:solidFill>
                  <a:srgbClr val="1F2937"/>
                </a:solidFill>
                <a:latin typeface="Calibri"/>
              </a:rPr>
              <a:t>that were checked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35204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DC2626"/>
                </a:solidFill>
                <a:latin typeface="Calibri"/>
              </a:rPr>
              <a:t>refuses to arm if any check fails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251960"/>
            <a:ext cx="11201400" cy="6858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 lIns="228600" rIns="228600"/>
          <a:lstStyle/>
          <a:p>
            <a:pPr algn="l"/>
            <a:r>
              <a:rPr sz="1500" b="1">
                <a:solidFill>
                  <a:srgbClr val="1D4ED8"/>
                </a:solidFill>
                <a:latin typeface="Calibri"/>
              </a:rPr>
              <a:t>Escort:  </a:t>
            </a:r>
            <a:r>
              <a:rPr sz="1500" b="0">
                <a:solidFill>
                  <a:srgbClr val="1F2937"/>
                </a:solidFill>
                <a:latin typeface="Calibri"/>
              </a:rPr>
              <a:t>reacts to the cameras live; checks each command as it is sent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074920"/>
            <a:ext cx="11201400" cy="6858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 lIns="228600" rIns="228600"/>
          <a:lstStyle/>
          <a:p>
            <a:pPr algn="l"/>
            <a:r>
              <a:rPr sz="1500" b="1">
                <a:solidFill>
                  <a:srgbClr val="C026D3"/>
                </a:solidFill>
                <a:latin typeface="Calibri"/>
              </a:rPr>
              <a:t>STL game:  </a:t>
            </a:r>
            <a:r>
              <a:rPr sz="1500" b="0">
                <a:solidFill>
                  <a:srgbClr val="1F2937"/>
                </a:solidFill>
                <a:latin typeface="Calibri"/>
              </a:rPr>
              <a:t>plays the game in advance; checks the whole flight before arming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943600"/>
            <a:ext cx="11201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Same seed, same flight: seed:=N replays a run, and plan_stl --seed N checks it offline.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Calibri"/>
              </a:rPr>
              <a:t>The STL flight, step by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Calibri"/>
              </a:rPr>
              <a:t>No prompts: once armed, the game runs to the end. Ctrl-C lands all ten at any time.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00200"/>
            <a:ext cx="1499616" cy="3383280"/>
          </a:xfrm>
          <a:prstGeom prst="roundRect">
            <a:avLst>
              <a:gd name="adj" fmla="val 7317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1737360"/>
            <a:ext cx="365760" cy="36576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12848"/>
            <a:ext cx="12801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834640"/>
            <a:ext cx="12801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Plan checked for the seed; tracking, marks and arming verified.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120640"/>
            <a:ext cx="1499616" cy="502920"/>
          </a:xfrm>
          <a:prstGeom prst="roundRect">
            <a:avLst>
              <a:gd name="adj" fmla="val 21818"/>
            </a:avLst>
          </a:prstGeom>
          <a:solidFill>
            <a:srgbClr val="DCFCE7"/>
          </a:solidFill>
          <a:ln>
            <a:noFill/>
          </a:ln>
          <a:effectLst/>
        </p:spPr>
        <p:txBody>
          <a:bodyPr rtlCol="0" anchor="ctr" wrap="square" lIns="45720" rIns="45720"/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before arming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56816" y="3291840"/>
            <a:ext cx="128016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10" name="Rounded Rectangle 9"/>
          <p:cNvSpPr/>
          <p:nvPr/>
        </p:nvSpPr>
        <p:spPr>
          <a:xfrm>
            <a:off x="2084832" y="1600200"/>
            <a:ext cx="1499616" cy="3383280"/>
          </a:xfrm>
          <a:prstGeom prst="roundRect">
            <a:avLst>
              <a:gd name="adj" fmla="val 7317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94560" y="1737360"/>
            <a:ext cx="365760" cy="36576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212848"/>
            <a:ext cx="12801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Take 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834640"/>
            <a:ext cx="12801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All ten lift to 0.3 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84832" y="5120640"/>
            <a:ext cx="1499616" cy="502920"/>
          </a:xfrm>
          <a:prstGeom prst="roundRect">
            <a:avLst>
              <a:gd name="adj" fmla="val 21818"/>
            </a:avLst>
          </a:prstGeom>
          <a:solidFill>
            <a:srgbClr val="E0E7FF"/>
          </a:solidFill>
          <a:ln>
            <a:noFill/>
          </a:ln>
          <a:effectLst/>
        </p:spPr>
        <p:txBody>
          <a:bodyPr rtlCol="0" anchor="ctr" wrap="square" lIns="45720" rIns="45720"/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3 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84448" y="3291840"/>
            <a:ext cx="128016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3712464" y="1600200"/>
            <a:ext cx="1499616" cy="3383280"/>
          </a:xfrm>
          <a:prstGeom prst="roundRect">
            <a:avLst>
              <a:gd name="adj" fmla="val 7317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822192" y="1737360"/>
            <a:ext cx="365760" cy="36576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22192" y="2212848"/>
            <a:ext cx="12801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Start move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22192" y="2834640"/>
            <a:ext cx="12801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Climb to 1.0 m and move to the start slots.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12464" y="5120640"/>
            <a:ext cx="1499616" cy="502920"/>
          </a:xfrm>
          <a:prstGeom prst="roundRect">
            <a:avLst>
              <a:gd name="adj" fmla="val 21818"/>
            </a:avLst>
          </a:prstGeom>
          <a:solidFill>
            <a:srgbClr val="E0E7FF"/>
          </a:solidFill>
          <a:ln>
            <a:noFill/>
          </a:ln>
          <a:effectLst/>
        </p:spPr>
        <p:txBody>
          <a:bodyPr rtlCol="0" anchor="ctr" wrap="square" lIns="45720" rIns="45720"/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3 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212080" y="3291840"/>
            <a:ext cx="128016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22" name="Rounded Rectangle 21"/>
          <p:cNvSpPr/>
          <p:nvPr/>
        </p:nvSpPr>
        <p:spPr>
          <a:xfrm>
            <a:off x="5340096" y="1600200"/>
            <a:ext cx="1499616" cy="3383280"/>
          </a:xfrm>
          <a:prstGeom prst="roundRect">
            <a:avLst>
              <a:gd name="adj" fmla="val 7317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449824" y="1737360"/>
            <a:ext cx="365760" cy="36576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9824" y="2212848"/>
            <a:ext cx="12801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Game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9824" y="2834640"/>
            <a:ext cx="12801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Intruders run for their goals; defenders block. A blocked intruder lands at once.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40096" y="5120640"/>
            <a:ext cx="1499616" cy="502920"/>
          </a:xfrm>
          <a:prstGeom prst="roundRect">
            <a:avLst>
              <a:gd name="adj" fmla="val 21818"/>
            </a:avLst>
          </a:prstGeom>
          <a:solidFill>
            <a:srgbClr val="E0E7FF"/>
          </a:solidFill>
          <a:ln>
            <a:noFill/>
          </a:ln>
          <a:effectLst/>
        </p:spPr>
        <p:txBody>
          <a:bodyPr rtlCol="0" anchor="ctr" wrap="square" lIns="45720" rIns="45720"/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~10 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39712" y="3291840"/>
            <a:ext cx="128016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28" name="Rounded Rectangle 27"/>
          <p:cNvSpPr/>
          <p:nvPr/>
        </p:nvSpPr>
        <p:spPr>
          <a:xfrm>
            <a:off x="6967728" y="1600200"/>
            <a:ext cx="1499616" cy="3383280"/>
          </a:xfrm>
          <a:prstGeom prst="roundRect">
            <a:avLst>
              <a:gd name="adj" fmla="val 7317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77456" y="1737360"/>
            <a:ext cx="365760" cy="36576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77456" y="2212848"/>
            <a:ext cx="12801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Intruders land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77456" y="2834640"/>
            <a:ext cx="12801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Any intruder still flying lands.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67728" y="5120640"/>
            <a:ext cx="1499616" cy="502920"/>
          </a:xfrm>
          <a:prstGeom prst="roundRect">
            <a:avLst>
              <a:gd name="adj" fmla="val 21818"/>
            </a:avLst>
          </a:prstGeom>
          <a:solidFill>
            <a:srgbClr val="E0E7FF"/>
          </a:solidFill>
          <a:ln>
            <a:noFill/>
          </a:ln>
          <a:effectLst/>
        </p:spPr>
        <p:txBody>
          <a:bodyPr rtlCol="0" anchor="ctr" wrap="square" lIns="45720" rIns="45720"/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5 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467344" y="3291840"/>
            <a:ext cx="128016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34" name="Rounded Rectangle 33"/>
          <p:cNvSpPr/>
          <p:nvPr/>
        </p:nvSpPr>
        <p:spPr>
          <a:xfrm>
            <a:off x="8595360" y="1600200"/>
            <a:ext cx="1499616" cy="3383280"/>
          </a:xfrm>
          <a:prstGeom prst="roundRect">
            <a:avLst>
              <a:gd name="adj" fmla="val 7317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05088" y="1737360"/>
            <a:ext cx="365760" cy="36576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05088" y="2212848"/>
            <a:ext cx="12801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Return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05088" y="2834640"/>
            <a:ext cx="12801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Defenders fly back to their start slots.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95360" y="5120640"/>
            <a:ext cx="1499616" cy="502920"/>
          </a:xfrm>
          <a:prstGeom prst="roundRect">
            <a:avLst>
              <a:gd name="adj" fmla="val 21818"/>
            </a:avLst>
          </a:prstGeom>
          <a:solidFill>
            <a:srgbClr val="E0E7FF"/>
          </a:solidFill>
          <a:ln>
            <a:noFill/>
          </a:ln>
          <a:effectLst/>
        </p:spPr>
        <p:txBody>
          <a:bodyPr rtlCol="0" anchor="ctr" wrap="square" lIns="45720" rIns="45720"/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~4 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094976" y="3291840"/>
            <a:ext cx="128016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40" name="Rounded Rectangle 39"/>
          <p:cNvSpPr/>
          <p:nvPr/>
        </p:nvSpPr>
        <p:spPr>
          <a:xfrm>
            <a:off x="10222992" y="1600200"/>
            <a:ext cx="1499616" cy="3383280"/>
          </a:xfrm>
          <a:prstGeom prst="roundRect">
            <a:avLst>
              <a:gd name="adj" fmla="val 7317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332720" y="1737360"/>
            <a:ext cx="365760" cy="36576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0" y="2212848"/>
            <a:ext cx="12801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Land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720" y="2834640"/>
            <a:ext cx="12801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Defenders land and everything disarms.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222992" y="5120640"/>
            <a:ext cx="1499616" cy="502920"/>
          </a:xfrm>
          <a:prstGeom prst="roundRect">
            <a:avLst>
              <a:gd name="adj" fmla="val 21818"/>
            </a:avLst>
          </a:prstGeom>
          <a:solidFill>
            <a:srgbClr val="E0E7FF"/>
          </a:solidFill>
          <a:ln>
            <a:noFill/>
          </a:ln>
          <a:effectLst/>
        </p:spPr>
        <p:txBody>
          <a:bodyPr rtlCol="0" anchor="ctr" wrap="square" lIns="45720" rIns="45720"/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5 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About 30 seconds from take-off to landing. Every run prints its seed and the closest approach planned.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Calibri"/>
              </a:rPr>
              <a:t>What the lights mean in the STL game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Calibri"/>
              </a:rPr>
              <a:t>Set by the game itself, so they show what the plan says is happening.</a:t>
            </a:r>
          </a:p>
        </p:txBody>
      </p:sp>
      <p:sp>
        <p:nvSpPr>
          <p:cNvPr id="4" name="Oval 3"/>
          <p:cNvSpPr/>
          <p:nvPr/>
        </p:nvSpPr>
        <p:spPr>
          <a:xfrm>
            <a:off x="612648" y="1618488"/>
            <a:ext cx="694944" cy="69494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61848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Calibri"/>
              </a:rPr>
              <a:t>Blue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01168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a defender</a:t>
            </a:r>
          </a:p>
        </p:txBody>
      </p:sp>
      <p:sp>
        <p:nvSpPr>
          <p:cNvPr id="7" name="Oval 6"/>
          <p:cNvSpPr/>
          <p:nvPr/>
        </p:nvSpPr>
        <p:spPr>
          <a:xfrm>
            <a:off x="612648" y="2670048"/>
            <a:ext cx="694944" cy="694944"/>
          </a:xfrm>
          <a:prstGeom prst="ellipse">
            <a:avLst/>
          </a:prstGeom>
          <a:solidFill>
            <a:srgbClr val="D946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67004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Calibri"/>
              </a:rPr>
              <a:t>Magenta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06324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an intruder still in play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3721608"/>
            <a:ext cx="694944" cy="69494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372160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Calibri"/>
              </a:rPr>
              <a:t>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11480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an intruder that was BLOCKED (it lands)</a:t>
            </a:r>
          </a:p>
        </p:txBody>
      </p:sp>
      <p:sp>
        <p:nvSpPr>
          <p:cNvPr id="13" name="Oval 12"/>
          <p:cNvSpPr/>
          <p:nvPr/>
        </p:nvSpPr>
        <p:spPr>
          <a:xfrm>
            <a:off x="612648" y="4773168"/>
            <a:ext cx="694944" cy="694944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477316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Calibri"/>
              </a:rPr>
              <a:t>Green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16636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an intruder that REACHED its goal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1600200"/>
            <a:ext cx="4023360" cy="2377440"/>
          </a:xfrm>
          <a:prstGeom prst="roundRect">
            <a:avLst>
              <a:gd name="adj" fmla="val 4615"/>
            </a:avLst>
          </a:prstGeom>
          <a:solidFill>
            <a:srgbClr val="FEF3C7"/>
          </a:solidFill>
          <a:ln>
            <a:noFill/>
          </a:ln>
          <a:effectLst/>
        </p:spPr>
        <p:txBody>
          <a:bodyPr rtlCol="0" anchor="ctr" wrap="square" lIns="228600" rIns="228600"/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Green also means "connected and ready" before and after a show, on every demo. During the STL game it means an intruder scored. That is the original script's choice.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4206240"/>
            <a:ext cx="4023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The escort uses a different set of colours: see its own light legend.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