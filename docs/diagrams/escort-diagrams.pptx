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escort demo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Seen from above. Everything here is decided live; nothing is a recorded routine.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280160"/>
            <a:ext cx="5029200" cy="502920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tracked area (the arena)</a:t>
            </a:r>
          </a:p>
        </p:txBody>
      </p:sp>
      <p:sp>
        <p:nvSpPr>
          <p:cNvPr id="6" name="Oval 5"/>
          <p:cNvSpPr/>
          <p:nvPr/>
        </p:nvSpPr>
        <p:spPr>
          <a:xfrm>
            <a:off x="2423160" y="2651760"/>
            <a:ext cx="2286000" cy="2286000"/>
          </a:xfrm>
          <a:prstGeom prst="ellipse">
            <a:avLst/>
          </a:prstGeom>
          <a:noFill/>
          <a:ln w="15875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660086" y="3957066"/>
            <a:ext cx="1558008" cy="726511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8" name="Oval 7"/>
          <p:cNvSpPr/>
          <p:nvPr/>
        </p:nvSpPr>
        <p:spPr>
          <a:xfrm>
            <a:off x="2293238" y="4040800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6585" y="4040800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93238" y="4304147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56585" y="4304147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3690" y="4181252"/>
            <a:ext cx="193121" cy="19312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89851" y="469222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3198" y="469222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89851" y="495557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53198" y="495557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0303" y="4832680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0547" y="293522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33894" y="293522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70547" y="319857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33894" y="319857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10999" y="3075677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71139" y="3399739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0051" y="3399739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71139" y="3838651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10051" y="3838651"/>
            <a:ext cx="351130" cy="3511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05226" y="3633826"/>
            <a:ext cx="321869" cy="321869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3073" y="444656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86421" y="444656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3073" y="470991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86421" y="4709912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563525" y="4587016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66560" y="153619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/>
              </a:rPr>
              <a:t>The VIP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856232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 larger DJI drone, flown by hand by a pilot. It is the thing being protected.</a:t>
            </a:r>
          </a:p>
        </p:txBody>
      </p:sp>
      <p:sp>
        <p:nvSpPr>
          <p:cNvPr id="36" name="Oval 35"/>
          <p:cNvSpPr/>
          <p:nvPr/>
        </p:nvSpPr>
        <p:spPr>
          <a:xfrm>
            <a:off x="6766560" y="2706624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6791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Calibri"/>
              </a:rPr>
              <a:t>Three defenders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026664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Hold a ring 1 m around the VIP. When a threat comes, the whole ring turns so one defender is in the way.</a:t>
            </a:r>
          </a:p>
        </p:txBody>
      </p:sp>
      <p:sp>
        <p:nvSpPr>
          <p:cNvPr id="39" name="Oval 38"/>
          <p:cNvSpPr/>
          <p:nvPr/>
        </p:nvSpPr>
        <p:spPr>
          <a:xfrm>
            <a:off x="6766560" y="3877056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38496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One attacker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197096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Tries to reach the VIP by hunting for gaps in the ring. It improvises; no two runs are the same.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5047488"/>
            <a:ext cx="310896" cy="310896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502005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34155"/>
                </a:solidFill>
                <a:latin typeface="Calibri"/>
              </a:rPr>
              <a:t>Cameras and one laptop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36752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Cameras on the walls see every drone 50 times a second. One laptop decides for all of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How the pieces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Positions flow in from the cameras; commands flow out over one radio.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19456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Motion-capture cameras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+ the Motive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OptiTrack cameras on the walls track reflective markers.</a:t>
            </a:r>
          </a:p>
        </p:txBody>
      </p:sp>
      <p:sp>
        <p:nvSpPr>
          <p:cNvPr id="6" name="Oval 5"/>
          <p:cNvSpPr/>
          <p:nvPr/>
        </p:nvSpPr>
        <p:spPr>
          <a:xfrm>
            <a:off x="1258214" y="432145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7398" y="432145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8214" y="465063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87398" y="465063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33779" y="449701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0749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VIP: DJI, hand-flown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tracked like any other drone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554480" y="3520440"/>
            <a:ext cx="0" cy="685800"/>
          </a:xfrm>
          <a:prstGeom prst="line">
            <a:avLst/>
          </a:prstGeom>
          <a:ln w="19050">
            <a:solidFill>
              <a:srgbClr val="94A3B8"/>
            </a:solidFill>
            <a:prstDash val="dash"/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3566160" y="1325880"/>
            <a:ext cx="5120640" cy="4434840"/>
          </a:xfrm>
          <a:prstGeom prst="roundRect">
            <a:avLst>
              <a:gd name="adj" fmla="val 4123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  <a:latin typeface="Calibri"/>
              </a:rPr>
              <a:t>The laptop (ROS 2)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377440"/>
            <a:ext cx="114300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16" name="TextBox 15"/>
          <p:cNvSpPr txBox="1"/>
          <p:nvPr/>
        </p:nvSpPr>
        <p:spPr>
          <a:xfrm>
            <a:off x="2697480" y="1874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positions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50×/s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2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Mocap receiver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motion_capture_tracking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turns camera data into positions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2834640"/>
            <a:ext cx="0" cy="2743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3794760" y="310896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Escort show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escort_show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decides where every drone should be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4069080"/>
            <a:ext cx="0" cy="2743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3794760" y="4343400"/>
            <a:ext cx="466344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Drone server</a:t>
            </a:r>
          </a:p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crazyflie_server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owns the radio, talks to the drones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206240"/>
            <a:ext cx="2194560" cy="868680"/>
          </a:xfrm>
          <a:prstGeom prst="roundRect">
            <a:avLst>
              <a:gd name="adj" fmla="val 1263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Crazyradio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USB radio dongle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58200" y="4645152"/>
            <a:ext cx="1051560" cy="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8503920" y="475488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commands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20×/s each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607040" y="3429000"/>
            <a:ext cx="0" cy="777240"/>
          </a:xfrm>
          <a:prstGeom prst="line">
            <a:avLst/>
          </a:prstGeom>
          <a:ln w="25400">
            <a:solidFill>
              <a:srgbClr val="334155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9144000" y="1600200"/>
            <a:ext cx="256032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691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Crazyflie drones</a:t>
            </a:r>
          </a:p>
        </p:txBody>
      </p:sp>
      <p:sp>
        <p:nvSpPr>
          <p:cNvPr id="28" name="Oval 27"/>
          <p:cNvSpPr/>
          <p:nvPr/>
        </p:nvSpPr>
        <p:spPr>
          <a:xfrm>
            <a:off x="9439534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9963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9534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69963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62429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0742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91171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60742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91171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83637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81950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12379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81950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12379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604845" y="22929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03158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233587" y="21700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03158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33587" y="24004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126053" y="2292949"/>
            <a:ext cx="168981" cy="16898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3 defenders + 1 attacker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~30 g each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5989320"/>
            <a:ext cx="466344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Operator presses Enter at each stage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126480" y="5760720"/>
            <a:ext cx="0" cy="228600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One decision, 20 times a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Each step answers one question, and each can be changed without touching the others.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SENSE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Where is everything?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cameras, 50×/s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96312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770632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DECIDE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Is there a threat?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Who blocks it?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escort controller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4024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5038344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FORMATION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Where should each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defender be?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the turning 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7306056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5803D"/>
                </a:solidFill>
                <a:latin typeface="Calibri"/>
              </a:rPr>
              <a:t>SAFETY CHECK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Is that command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allowed?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speed, spacing, room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99448" y="2926080"/>
            <a:ext cx="246888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9573768" y="182880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ACT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Send it to</a:t>
            </a:r>
          </a:p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the drones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B7280"/>
                </a:solidFill>
                <a:latin typeface="Calibri"/>
              </a:rPr>
              <a:t>radio, 20×/s each</a:t>
            </a:r>
          </a:p>
        </p:txBody>
      </p:sp>
      <p:sp>
        <p:nvSpPr>
          <p:cNvPr id="13" name="Freeform 12"/>
          <p:cNvSpPr/>
          <p:nvPr/>
        </p:nvSpPr>
        <p:spPr>
          <a:xfrm>
            <a:off x="1485900" y="4023360"/>
            <a:ext cx="9070848" cy="731520"/>
          </a:xfrm>
          <a:custGeom>
            <a:avLst/>
            <a:gdLst/>
            <a:ahLst/>
            <a:cxnLst/>
            <a:rect l="l" t="t" r="r" b="b"/>
            <a:pathLst>
              <a:path w="9070848" h="731520">
                <a:moveTo>
                  <a:pt x="9070848" y="0"/>
                </a:moveTo>
                <a:lnTo>
                  <a:pt x="9070848" y="731520"/>
                </a:lnTo>
                <a:lnTo>
                  <a:pt x="0" y="731520"/>
                </a:lnTo>
                <a:lnTo>
                  <a:pt x="0" y="18288"/>
                </a:lnTo>
              </a:path>
            </a:pathLst>
          </a:custGeom>
          <a:noFill/>
          <a:ln w="25400">
            <a:solidFill>
              <a:srgbClr val="94A3B8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the drones move, and the cameras see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safety check does not care how the ring was chosen. That is what lets one offline checker (plan_escort) test the whole chain before anything flies.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Turn the ring, never swap drones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drones cannot see each other, so the paths themselves must never cross.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DejaVu Sans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  <a:latin typeface="Calibri"/>
              </a:rPr>
              <a:t>Swap places (not used)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2514600"/>
            <a:ext cx="2651760" cy="265176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66974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96158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66974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96158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2539" y="37197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2143594" y="2560320"/>
            <a:ext cx="919646" cy="1805940"/>
          </a:xfrm>
          <a:prstGeom prst="line">
            <a:avLst/>
          </a:prstGeom>
          <a:ln w="31750">
            <a:solidFill>
              <a:srgbClr val="DC2626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960714" y="2743200"/>
            <a:ext cx="919646" cy="1531620"/>
          </a:xfrm>
          <a:prstGeom prst="line">
            <a:avLst/>
          </a:prstGeom>
          <a:ln w="31750">
            <a:solidFill>
              <a:srgbClr val="DC2626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50292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Two drones cross paths right next to the VIP.</a:t>
            </a:r>
          </a:p>
        </p:txBody>
      </p:sp>
      <p:sp>
        <p:nvSpPr>
          <p:cNvPr id="16" name="Oval 15"/>
          <p:cNvSpPr/>
          <p:nvPr/>
        </p:nvSpPr>
        <p:spPr>
          <a:xfrm>
            <a:off x="2826228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89575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6228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89575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66679" y="241803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77982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41329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77982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41329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18434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74473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37820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74473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37820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925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1572768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5803D"/>
                </a:solidFill>
                <a:latin typeface="Calibri"/>
              </a:rPr>
              <a:t>Turn the whole ring (what we do)</a:t>
            </a:r>
          </a:p>
        </p:txBody>
      </p:sp>
      <p:sp>
        <p:nvSpPr>
          <p:cNvPr id="34" name="Oval 33"/>
          <p:cNvSpPr/>
          <p:nvPr/>
        </p:nvSpPr>
        <p:spPr>
          <a:xfrm>
            <a:off x="7772400" y="2514600"/>
            <a:ext cx="2651760" cy="265176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02014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31198" y="35442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02014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31198" y="38733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77579" y="37197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837305" y="2275248"/>
            <a:ext cx="928275" cy="580051"/>
          </a:xfrm>
          <a:custGeom>
            <a:avLst/>
            <a:gdLst/>
            <a:ahLst/>
            <a:cxnLst/>
            <a:rect l="l" t="t" r="r" b="b"/>
            <a:pathLst>
              <a:path w="928275" h="580051">
                <a:moveTo>
                  <a:pt x="928275" y="0"/>
                </a:moveTo>
                <a:lnTo>
                  <a:pt x="901008" y="6045"/>
                </a:lnTo>
                <a:lnTo>
                  <a:pt x="873852" y="12565"/>
                </a:lnTo>
                <a:lnTo>
                  <a:pt x="846813" y="19557"/>
                </a:lnTo>
                <a:lnTo>
                  <a:pt x="819900" y="27021"/>
                </a:lnTo>
                <a:lnTo>
                  <a:pt x="793122" y="34953"/>
                </a:lnTo>
                <a:lnTo>
                  <a:pt x="766486" y="43351"/>
                </a:lnTo>
                <a:lnTo>
                  <a:pt x="740001" y="52213"/>
                </a:lnTo>
                <a:lnTo>
                  <a:pt x="713674" y="61536"/>
                </a:lnTo>
                <a:lnTo>
                  <a:pt x="687515" y="71317"/>
                </a:lnTo>
                <a:lnTo>
                  <a:pt x="661530" y="81552"/>
                </a:lnTo>
                <a:lnTo>
                  <a:pt x="635727" y="92240"/>
                </a:lnTo>
                <a:lnTo>
                  <a:pt x="610115" y="103377"/>
                </a:lnTo>
                <a:lnTo>
                  <a:pt x="584701" y="114958"/>
                </a:lnTo>
                <a:lnTo>
                  <a:pt x="559493" y="126982"/>
                </a:lnTo>
                <a:lnTo>
                  <a:pt x="534499" y="139443"/>
                </a:lnTo>
                <a:lnTo>
                  <a:pt x="509727" y="152339"/>
                </a:lnTo>
                <a:lnTo>
                  <a:pt x="485183" y="165666"/>
                </a:lnTo>
                <a:lnTo>
                  <a:pt x="460875" y="179418"/>
                </a:lnTo>
                <a:lnTo>
                  <a:pt x="436811" y="193593"/>
                </a:lnTo>
                <a:lnTo>
                  <a:pt x="412998" y="208185"/>
                </a:lnTo>
                <a:lnTo>
                  <a:pt x="389444" y="223191"/>
                </a:lnTo>
                <a:lnTo>
                  <a:pt x="366155" y="238606"/>
                </a:lnTo>
                <a:lnTo>
                  <a:pt x="343138" y="254425"/>
                </a:lnTo>
                <a:lnTo>
                  <a:pt x="320401" y="270643"/>
                </a:lnTo>
                <a:lnTo>
                  <a:pt x="297951" y="287255"/>
                </a:lnTo>
                <a:lnTo>
                  <a:pt x="275794" y="304257"/>
                </a:lnTo>
                <a:lnTo>
                  <a:pt x="253937" y="321643"/>
                </a:lnTo>
                <a:lnTo>
                  <a:pt x="232386" y="339408"/>
                </a:lnTo>
                <a:lnTo>
                  <a:pt x="211149" y="357546"/>
                </a:lnTo>
                <a:lnTo>
                  <a:pt x="190232" y="376052"/>
                </a:lnTo>
                <a:lnTo>
                  <a:pt x="169641" y="394920"/>
                </a:lnTo>
                <a:lnTo>
                  <a:pt x="149383" y="414144"/>
                </a:lnTo>
                <a:lnTo>
                  <a:pt x="129463" y="433720"/>
                </a:lnTo>
                <a:lnTo>
                  <a:pt x="109887" y="453640"/>
                </a:lnTo>
                <a:lnTo>
                  <a:pt x="90663" y="473898"/>
                </a:lnTo>
                <a:lnTo>
                  <a:pt x="71795" y="494489"/>
                </a:lnTo>
                <a:lnTo>
                  <a:pt x="53289" y="515406"/>
                </a:lnTo>
                <a:lnTo>
                  <a:pt x="35151" y="536643"/>
                </a:lnTo>
                <a:lnTo>
                  <a:pt x="17386" y="558194"/>
                </a:lnTo>
                <a:lnTo>
                  <a:pt x="0" y="580051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909100" y="4911223"/>
            <a:ext cx="966475" cy="513884"/>
          </a:xfrm>
          <a:custGeom>
            <a:avLst/>
            <a:gdLst/>
            <a:ahLst/>
            <a:cxnLst/>
            <a:rect l="l" t="t" r="r" b="b"/>
            <a:pathLst>
              <a:path w="966475" h="513884">
                <a:moveTo>
                  <a:pt x="0" y="0"/>
                </a:moveTo>
                <a:lnTo>
                  <a:pt x="18868" y="20591"/>
                </a:lnTo>
                <a:lnTo>
                  <a:pt x="38092" y="40849"/>
                </a:lnTo>
                <a:lnTo>
                  <a:pt x="57668" y="60769"/>
                </a:lnTo>
                <a:lnTo>
                  <a:pt x="77588" y="80345"/>
                </a:lnTo>
                <a:lnTo>
                  <a:pt x="97846" y="99569"/>
                </a:lnTo>
                <a:lnTo>
                  <a:pt x="118437" y="118437"/>
                </a:lnTo>
                <a:lnTo>
                  <a:pt x="139354" y="136943"/>
                </a:lnTo>
                <a:lnTo>
                  <a:pt x="160591" y="155081"/>
                </a:lnTo>
                <a:lnTo>
                  <a:pt x="182142" y="172846"/>
                </a:lnTo>
                <a:lnTo>
                  <a:pt x="203999" y="190232"/>
                </a:lnTo>
                <a:lnTo>
                  <a:pt x="226156" y="207234"/>
                </a:lnTo>
                <a:lnTo>
                  <a:pt x="248606" y="223846"/>
                </a:lnTo>
                <a:lnTo>
                  <a:pt x="271343" y="240064"/>
                </a:lnTo>
                <a:lnTo>
                  <a:pt x="294360" y="255883"/>
                </a:lnTo>
                <a:lnTo>
                  <a:pt x="317649" y="271298"/>
                </a:lnTo>
                <a:lnTo>
                  <a:pt x="341203" y="286304"/>
                </a:lnTo>
                <a:lnTo>
                  <a:pt x="365016" y="300896"/>
                </a:lnTo>
                <a:lnTo>
                  <a:pt x="389080" y="315071"/>
                </a:lnTo>
                <a:lnTo>
                  <a:pt x="413388" y="328823"/>
                </a:lnTo>
                <a:lnTo>
                  <a:pt x="437932" y="342150"/>
                </a:lnTo>
                <a:lnTo>
                  <a:pt x="462704" y="355046"/>
                </a:lnTo>
                <a:lnTo>
                  <a:pt x="487698" y="367507"/>
                </a:lnTo>
                <a:lnTo>
                  <a:pt x="512906" y="379531"/>
                </a:lnTo>
                <a:lnTo>
                  <a:pt x="538320" y="391112"/>
                </a:lnTo>
                <a:lnTo>
                  <a:pt x="563932" y="402249"/>
                </a:lnTo>
                <a:lnTo>
                  <a:pt x="589735" y="412937"/>
                </a:lnTo>
                <a:lnTo>
                  <a:pt x="615720" y="423172"/>
                </a:lnTo>
                <a:lnTo>
                  <a:pt x="641879" y="432953"/>
                </a:lnTo>
                <a:lnTo>
                  <a:pt x="668206" y="442276"/>
                </a:lnTo>
                <a:lnTo>
                  <a:pt x="694691" y="451138"/>
                </a:lnTo>
                <a:lnTo>
                  <a:pt x="721327" y="459536"/>
                </a:lnTo>
                <a:lnTo>
                  <a:pt x="748105" y="467468"/>
                </a:lnTo>
                <a:lnTo>
                  <a:pt x="775018" y="474932"/>
                </a:lnTo>
                <a:lnTo>
                  <a:pt x="802057" y="481924"/>
                </a:lnTo>
                <a:lnTo>
                  <a:pt x="829213" y="488444"/>
                </a:lnTo>
                <a:lnTo>
                  <a:pt x="856480" y="494489"/>
                </a:lnTo>
                <a:lnTo>
                  <a:pt x="883847" y="500057"/>
                </a:lnTo>
                <a:lnTo>
                  <a:pt x="911308" y="505146"/>
                </a:lnTo>
                <a:lnTo>
                  <a:pt x="938854" y="509756"/>
                </a:lnTo>
                <a:lnTo>
                  <a:pt x="966475" y="513884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581960" y="3241035"/>
            <a:ext cx="116520" cy="1093934"/>
          </a:xfrm>
          <a:custGeom>
            <a:avLst/>
            <a:gdLst/>
            <a:ahLst/>
            <a:cxnLst/>
            <a:rect l="l" t="t" r="r" b="b"/>
            <a:pathLst>
              <a:path w="116520" h="1093934">
                <a:moveTo>
                  <a:pt x="38201" y="1093934"/>
                </a:moveTo>
                <a:lnTo>
                  <a:pt x="46599" y="1067298"/>
                </a:lnTo>
                <a:lnTo>
                  <a:pt x="54531" y="1040520"/>
                </a:lnTo>
                <a:lnTo>
                  <a:pt x="61995" y="1013607"/>
                </a:lnTo>
                <a:lnTo>
                  <a:pt x="68987" y="986568"/>
                </a:lnTo>
                <a:lnTo>
                  <a:pt x="75507" y="959412"/>
                </a:lnTo>
                <a:lnTo>
                  <a:pt x="81552" y="932145"/>
                </a:lnTo>
                <a:lnTo>
                  <a:pt x="87120" y="904778"/>
                </a:lnTo>
                <a:lnTo>
                  <a:pt x="92209" y="877317"/>
                </a:lnTo>
                <a:lnTo>
                  <a:pt x="96819" y="849771"/>
                </a:lnTo>
                <a:lnTo>
                  <a:pt x="100947" y="822150"/>
                </a:lnTo>
                <a:lnTo>
                  <a:pt x="104592" y="794460"/>
                </a:lnTo>
                <a:lnTo>
                  <a:pt x="107754" y="766711"/>
                </a:lnTo>
                <a:lnTo>
                  <a:pt x="110431" y="738912"/>
                </a:lnTo>
                <a:lnTo>
                  <a:pt x="112622" y="711069"/>
                </a:lnTo>
                <a:lnTo>
                  <a:pt x="114327" y="683193"/>
                </a:lnTo>
                <a:lnTo>
                  <a:pt x="115545" y="655291"/>
                </a:lnTo>
                <a:lnTo>
                  <a:pt x="116276" y="627372"/>
                </a:lnTo>
                <a:lnTo>
                  <a:pt x="116520" y="599445"/>
                </a:lnTo>
                <a:lnTo>
                  <a:pt x="116276" y="571518"/>
                </a:lnTo>
                <a:lnTo>
                  <a:pt x="115545" y="543599"/>
                </a:lnTo>
                <a:lnTo>
                  <a:pt x="114327" y="515697"/>
                </a:lnTo>
                <a:lnTo>
                  <a:pt x="112622" y="487821"/>
                </a:lnTo>
                <a:lnTo>
                  <a:pt x="110431" y="459978"/>
                </a:lnTo>
                <a:lnTo>
                  <a:pt x="107754" y="432179"/>
                </a:lnTo>
                <a:lnTo>
                  <a:pt x="104592" y="404430"/>
                </a:lnTo>
                <a:lnTo>
                  <a:pt x="100947" y="376740"/>
                </a:lnTo>
                <a:lnTo>
                  <a:pt x="96819" y="349119"/>
                </a:lnTo>
                <a:lnTo>
                  <a:pt x="92209" y="321573"/>
                </a:lnTo>
                <a:lnTo>
                  <a:pt x="87120" y="294112"/>
                </a:lnTo>
                <a:lnTo>
                  <a:pt x="81552" y="266745"/>
                </a:lnTo>
                <a:lnTo>
                  <a:pt x="75507" y="239478"/>
                </a:lnTo>
                <a:lnTo>
                  <a:pt x="68987" y="212322"/>
                </a:lnTo>
                <a:lnTo>
                  <a:pt x="61995" y="185283"/>
                </a:lnTo>
                <a:lnTo>
                  <a:pt x="54531" y="158370"/>
                </a:lnTo>
                <a:lnTo>
                  <a:pt x="46599" y="131592"/>
                </a:lnTo>
                <a:lnTo>
                  <a:pt x="38201" y="104956"/>
                </a:lnTo>
                <a:lnTo>
                  <a:pt x="29339" y="78471"/>
                </a:lnTo>
                <a:lnTo>
                  <a:pt x="20016" y="52144"/>
                </a:lnTo>
                <a:lnTo>
                  <a:pt x="10235" y="25985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15803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Every drone moves the same way round. Order never changes.</a:t>
            </a:r>
          </a:p>
        </p:txBody>
      </p:sp>
      <p:sp>
        <p:nvSpPr>
          <p:cNvPr id="44" name="Oval 43"/>
          <p:cNvSpPr/>
          <p:nvPr/>
        </p:nvSpPr>
        <p:spPr>
          <a:xfrm>
            <a:off x="8861268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24615" y="22775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1268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24615" y="254093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01719" y="241803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13022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76369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13022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76369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53474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09513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272860" y="426640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09513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72860" y="452975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49965" y="440685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Resting ring vs. blocking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When the attacker comes close, one defender moves onto its line and the other two close up beside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At rest</a:t>
            </a:r>
          </a:p>
        </p:txBody>
      </p:sp>
      <p:sp>
        <p:nvSpPr>
          <p:cNvPr id="6" name="Oval 5"/>
          <p:cNvSpPr/>
          <p:nvPr/>
        </p:nvSpPr>
        <p:spPr>
          <a:xfrm>
            <a:off x="1874520" y="2423160"/>
            <a:ext cx="2377440" cy="237744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095225" y="3752614"/>
            <a:ext cx="1581350" cy="579767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8" name="Freeform 7"/>
          <p:cNvSpPr/>
          <p:nvPr/>
        </p:nvSpPr>
        <p:spPr>
          <a:xfrm>
            <a:off x="2468880" y="3611880"/>
            <a:ext cx="1783080" cy="1029462"/>
          </a:xfrm>
          <a:custGeom>
            <a:avLst/>
            <a:gdLst/>
            <a:ahLst/>
            <a:cxnLst/>
            <a:rect l="l" t="t" r="r" b="b"/>
            <a:pathLst>
              <a:path w="1783080" h="1029462">
                <a:moveTo>
                  <a:pt x="0" y="1029462"/>
                </a:moveTo>
                <a:lnTo>
                  <a:pt x="1783080" y="0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468880" y="2582418"/>
            <a:ext cx="1783080" cy="1029462"/>
          </a:xfrm>
          <a:custGeom>
            <a:avLst/>
            <a:gdLst/>
            <a:ahLst/>
            <a:cxnLst/>
            <a:rect l="l" t="t" r="r" b="b"/>
            <a:pathLst>
              <a:path w="1783080" h="1029462">
                <a:moveTo>
                  <a:pt x="1783080" y="1029462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468880" y="2582418"/>
            <a:ext cx="0" cy="2058924"/>
          </a:xfrm>
          <a:custGeom>
            <a:avLst/>
            <a:gdLst/>
            <a:ahLst/>
            <a:cxnLst/>
            <a:rect l="l" t="t" r="r" b="b"/>
            <a:pathLst>
              <a:path w="0" h="2058924">
                <a:moveTo>
                  <a:pt x="0" y="0"/>
                </a:moveTo>
                <a:lnTo>
                  <a:pt x="0" y="2058924"/>
                </a:lnTo>
              </a:path>
            </a:pathLst>
          </a:custGeom>
          <a:noFill/>
          <a:ln w="15875">
            <a:solidFill>
              <a:srgbClr val="CBD5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66060" y="2950845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gap 1.73 m</a:t>
            </a:r>
          </a:p>
        </p:txBody>
      </p:sp>
      <p:sp>
        <p:nvSpPr>
          <p:cNvPr id="12" name="Oval 11"/>
          <p:cNvSpPr/>
          <p:nvPr/>
        </p:nvSpPr>
        <p:spPr>
          <a:xfrm>
            <a:off x="2231868" y="4404329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95215" y="4404329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31868" y="466767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95215" y="466767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2319" y="4544781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14948" y="337486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8295" y="337486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4948" y="363821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78295" y="3638215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55399" y="3515319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31868" y="234540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95215" y="234540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31868" y="2608753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95215" y="2608753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72319" y="2485858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6974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96158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66974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96158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2539" y="34911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1053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4400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1053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4400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505" y="4281540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Three drones 120° apart: big gaps, but nothing to block yet.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Blocking</a:t>
            </a:r>
          </a:p>
        </p:txBody>
      </p:sp>
      <p:sp>
        <p:nvSpPr>
          <p:cNvPr id="40" name="Oval 39"/>
          <p:cNvSpPr/>
          <p:nvPr/>
        </p:nvSpPr>
        <p:spPr>
          <a:xfrm>
            <a:off x="7909560" y="2423160"/>
            <a:ext cx="2377440" cy="2377440"/>
          </a:xfrm>
          <a:prstGeom prst="ellipse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130265" y="3752614"/>
            <a:ext cx="1581350" cy="579767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</p:cxnSp>
      <p:sp>
        <p:nvSpPr>
          <p:cNvPr id="42" name="Oval 41"/>
          <p:cNvSpPr/>
          <p:nvPr/>
        </p:nvSpPr>
        <p:spPr>
          <a:xfrm>
            <a:off x="7744236" y="378143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07583" y="3781434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44236" y="404478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07583" y="404478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84688" y="3921886"/>
            <a:ext cx="193121" cy="193121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66849" y="347200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blocker</a:t>
            </a:r>
          </a:p>
        </p:txBody>
      </p:sp>
      <p:sp>
        <p:nvSpPr>
          <p:cNvPr id="48" name="Oval 47"/>
          <p:cNvSpPr/>
          <p:nvPr/>
        </p:nvSpPr>
        <p:spPr>
          <a:xfrm>
            <a:off x="8614119" y="453761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77466" y="4537611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14119" y="480095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877466" y="480095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754571" y="4678063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36731" y="504674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wing</a:t>
            </a:r>
          </a:p>
        </p:txBody>
      </p:sp>
      <p:sp>
        <p:nvSpPr>
          <p:cNvPr id="54" name="Oval 53"/>
          <p:cNvSpPr/>
          <p:nvPr/>
        </p:nvSpPr>
        <p:spPr>
          <a:xfrm>
            <a:off x="7924543" y="264301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87891" y="264301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24543" y="290636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7891" y="290636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64995" y="2783470"/>
            <a:ext cx="193121" cy="19312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47156" y="233358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wing</a:t>
            </a:r>
          </a:p>
        </p:txBody>
      </p:sp>
      <p:sp>
        <p:nvSpPr>
          <p:cNvPr id="60" name="Oval 59"/>
          <p:cNvSpPr/>
          <p:nvPr/>
        </p:nvSpPr>
        <p:spPr>
          <a:xfrm>
            <a:off x="8802014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31198" y="3315614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02014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31198" y="3644798"/>
            <a:ext cx="263347" cy="26334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77579" y="3491179"/>
            <a:ext cx="241402" cy="241402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756093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19440" y="4141088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56093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019440" y="4404436"/>
            <a:ext cx="210678" cy="21067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896545" y="4281540"/>
            <a:ext cx="193121" cy="19312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5486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Blocker (white light) on the line; wings (violet) close the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When does the ring start blocking?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Two distances, not one, so the ring cannot flicker between modes. Drawn to scale.</a:t>
            </a:r>
          </a:p>
        </p:txBody>
      </p:sp>
      <p:sp>
        <p:nvSpPr>
          <p:cNvPr id="4" name="Oval 3"/>
          <p:cNvSpPr/>
          <p:nvPr/>
        </p:nvSpPr>
        <p:spPr>
          <a:xfrm>
            <a:off x="957377" y="1551737"/>
            <a:ext cx="4668926" cy="4668926"/>
          </a:xfrm>
          <a:prstGeom prst="ellipse">
            <a:avLst/>
          </a:prstGeom>
          <a:noFill/>
          <a:ln w="19050">
            <a:solidFill>
              <a:srgbClr val="6B72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" y="1677924"/>
            <a:ext cx="4416552" cy="4416552"/>
          </a:xfrm>
          <a:prstGeom prst="ellipse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40280" y="2834640"/>
            <a:ext cx="2103120" cy="2103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44952" y="36393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19272" y="363931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44952" y="391363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19272" y="391363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91256" y="3785616"/>
            <a:ext cx="201168" cy="201168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23956" y="266675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0494" y="266675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3956" y="285329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10494" y="285329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23443" y="276624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13278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99816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13278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99816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12765" y="434358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34634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21171" y="4244096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34634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1171" y="4430634"/>
            <a:ext cx="149230" cy="1492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34121" y="4343583"/>
            <a:ext cx="136794" cy="13679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583680" y="190195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7373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4ED8"/>
                </a:solidFill>
                <a:latin typeface="Calibri"/>
              </a:rPr>
              <a:t>Ring, 1.0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08483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Where the defenders fly.</a:t>
            </a:r>
          </a:p>
        </p:txBody>
      </p:sp>
      <p:sp>
        <p:nvSpPr>
          <p:cNvPr id="30" name="Freeform 29"/>
          <p:cNvSpPr/>
          <p:nvPr/>
        </p:nvSpPr>
        <p:spPr>
          <a:xfrm>
            <a:off x="6583680" y="299923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B4530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45309"/>
                </a:solidFill>
                <a:latin typeface="Calibri"/>
              </a:rPr>
              <a:t>Alert line, 2.10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8211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crosses inside: blocking STARTS.</a:t>
            </a:r>
          </a:p>
        </p:txBody>
      </p:sp>
      <p:sp>
        <p:nvSpPr>
          <p:cNvPr id="33" name="Freeform 32"/>
          <p:cNvSpPr/>
          <p:nvPr/>
        </p:nvSpPr>
        <p:spPr>
          <a:xfrm>
            <a:off x="6583680" y="409651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31750">
            <a:solidFill>
              <a:srgbClr val="6B72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9319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6B7280"/>
                </a:solidFill>
                <a:latin typeface="Calibri"/>
              </a:rPr>
              <a:t>Release line, 2.22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79392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must get back out past this before blocking STOPS.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5074920"/>
            <a:ext cx="5120640" cy="1051560"/>
          </a:xfrm>
          <a:prstGeom prst="roundRect">
            <a:avLst>
              <a:gd name="adj" fmla="val 10434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Why so far out? The ring needs a few seconds to turn, so it has to start while the attacker is still out of reach. It was moved out after a test where the attacker got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speed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Every defender is capped at 0.6 m/s. Turning the ring and following the VIP share that one budget.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1F2937"/>
                </a:solidFill>
                <a:latin typeface="Calibri"/>
              </a:rPr>
              <a:t>Ring resting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011680"/>
            <a:ext cx="4114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turning the ring  0.30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011680"/>
            <a:ext cx="411480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following the VIP  0.30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1F2937"/>
                </a:solidFill>
                <a:latin typeface="Calibri"/>
              </a:rPr>
              <a:t>Ring blocking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3246120"/>
            <a:ext cx="7543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turning the ring  0.55 m/s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61320" y="3246120"/>
            <a:ext cx="68580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0.05</a:t>
            </a:r>
          </a:p>
        </p:txBody>
      </p:sp>
      <p:sp>
        <p:nvSpPr>
          <p:cNvPr id="10" name="Freeform 9"/>
          <p:cNvSpPr/>
          <p:nvPr/>
        </p:nvSpPr>
        <p:spPr>
          <a:xfrm>
            <a:off x="11247120" y="1828800"/>
            <a:ext cx="0" cy="2377440"/>
          </a:xfrm>
          <a:custGeom>
            <a:avLst/>
            <a:gdLst/>
            <a:ahLst/>
            <a:cxnLst/>
            <a:rect l="l" t="t" r="r" b="b"/>
            <a:pathLst>
              <a:path w="0" h="2377440">
                <a:moveTo>
                  <a:pt x="0" y="0"/>
                </a:moveTo>
                <a:lnTo>
                  <a:pt x="0" y="2377440"/>
                </a:lnTo>
              </a:path>
            </a:pathLst>
          </a:custGeom>
          <a:noFill/>
          <a:ln w="317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42519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  <a:latin typeface="Calibri"/>
              </a:rPr>
              <a:t>limit 0.60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00600"/>
            <a:ext cx="11247120" cy="1234440"/>
          </a:xfrm>
          <a:prstGeom prst="roundRect">
            <a:avLst>
              <a:gd name="adj" fmla="val 8888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228600" rIns="228600"/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While blocking, only 0.05 m/s is left for following the VIP.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So the pilot is briefed to hold the DJI still while the attacker is pressing. Small drifts before and after are fine.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To give the VIP more room you must turn the ring more slowly, shrink the ring, or let the drones fly faster near people. Each has a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Why the defenders can win: the inside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Both sides race for the same direction around the VIP. The defenders run the shorter circle.</a:t>
            </a:r>
          </a:p>
        </p:txBody>
      </p:sp>
      <p:sp>
        <p:nvSpPr>
          <p:cNvPr id="4" name="Freeform 3"/>
          <p:cNvSpPr/>
          <p:nvPr/>
        </p:nvSpPr>
        <p:spPr>
          <a:xfrm>
            <a:off x="3566160" y="1966448"/>
            <a:ext cx="1778658" cy="1828312"/>
          </a:xfrm>
          <a:custGeom>
            <a:avLst/>
            <a:gdLst/>
            <a:ahLst/>
            <a:cxnLst/>
            <a:rect l="l" t="t" r="r" b="b"/>
            <a:pathLst>
              <a:path w="1778658" h="1828312">
                <a:moveTo>
                  <a:pt x="0" y="1828312"/>
                </a:moveTo>
                <a:lnTo>
                  <a:pt x="1778658" y="1180934"/>
                </a:lnTo>
                <a:lnTo>
                  <a:pt x="1757036" y="1124362"/>
                </a:lnTo>
                <a:lnTo>
                  <a:pt x="1733616" y="1068510"/>
                </a:lnTo>
                <a:lnTo>
                  <a:pt x="1708421" y="1013437"/>
                </a:lnTo>
                <a:lnTo>
                  <a:pt x="1681476" y="959198"/>
                </a:lnTo>
                <a:lnTo>
                  <a:pt x="1652811" y="905849"/>
                </a:lnTo>
                <a:lnTo>
                  <a:pt x="1622453" y="853444"/>
                </a:lnTo>
                <a:lnTo>
                  <a:pt x="1590434" y="802037"/>
                </a:lnTo>
                <a:lnTo>
                  <a:pt x="1556787" y="751681"/>
                </a:lnTo>
                <a:lnTo>
                  <a:pt x="1521547" y="702427"/>
                </a:lnTo>
                <a:lnTo>
                  <a:pt x="1484748" y="654325"/>
                </a:lnTo>
                <a:lnTo>
                  <a:pt x="1446430" y="607426"/>
                </a:lnTo>
                <a:lnTo>
                  <a:pt x="1406630" y="561776"/>
                </a:lnTo>
                <a:lnTo>
                  <a:pt x="1365391" y="517423"/>
                </a:lnTo>
                <a:lnTo>
                  <a:pt x="1322754" y="474412"/>
                </a:lnTo>
                <a:lnTo>
                  <a:pt x="1278763" y="432788"/>
                </a:lnTo>
                <a:lnTo>
                  <a:pt x="1233462" y="392591"/>
                </a:lnTo>
                <a:lnTo>
                  <a:pt x="1186899" y="353865"/>
                </a:lnTo>
                <a:lnTo>
                  <a:pt x="1139120" y="316648"/>
                </a:lnTo>
                <a:lnTo>
                  <a:pt x="1090176" y="280979"/>
                </a:lnTo>
                <a:lnTo>
                  <a:pt x="1040115" y="246894"/>
                </a:lnTo>
                <a:lnTo>
                  <a:pt x="988989" y="214428"/>
                </a:lnTo>
                <a:lnTo>
                  <a:pt x="936851" y="183614"/>
                </a:lnTo>
                <a:lnTo>
                  <a:pt x="883754" y="154484"/>
                </a:lnTo>
                <a:lnTo>
                  <a:pt x="829752" y="127067"/>
                </a:lnTo>
                <a:lnTo>
                  <a:pt x="774901" y="101393"/>
                </a:lnTo>
                <a:lnTo>
                  <a:pt x="719256" y="77486"/>
                </a:lnTo>
                <a:lnTo>
                  <a:pt x="662875" y="55371"/>
                </a:lnTo>
                <a:lnTo>
                  <a:pt x="605816" y="35072"/>
                </a:lnTo>
                <a:lnTo>
                  <a:pt x="548136" y="16609"/>
                </a:lnTo>
                <a:lnTo>
                  <a:pt x="489895" y="0"/>
                </a:lnTo>
                <a:close/>
              </a:path>
            </a:pathLst>
          </a:custGeom>
          <a:solidFill>
            <a:srgbClr val="FEF9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3352" y="1901952"/>
            <a:ext cx="3785616" cy="3785616"/>
          </a:xfrm>
          <a:prstGeom prst="ellipse">
            <a:avLst/>
          </a:prstGeom>
          <a:noFill/>
          <a:ln w="19050">
            <a:solidFill>
              <a:srgbClr val="DC262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14600" y="2743200"/>
            <a:ext cx="2103120" cy="2103120"/>
          </a:xfrm>
          <a:prstGeom prst="ellipse">
            <a:avLst/>
          </a:prstGeom>
          <a:noFill/>
          <a:ln w="19050">
            <a:solidFill>
              <a:srgbClr val="1D4ED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838324" y="2779031"/>
            <a:ext cx="715979" cy="656074"/>
          </a:xfrm>
          <a:custGeom>
            <a:avLst/>
            <a:gdLst/>
            <a:ahLst/>
            <a:cxnLst/>
            <a:rect l="l" t="t" r="r" b="b"/>
            <a:pathLst>
              <a:path w="715979" h="656074">
                <a:moveTo>
                  <a:pt x="715979" y="656074"/>
                </a:moveTo>
                <a:lnTo>
                  <a:pt x="707064" y="632466"/>
                </a:lnTo>
                <a:lnTo>
                  <a:pt x="697586" y="609079"/>
                </a:lnTo>
                <a:lnTo>
                  <a:pt x="687548" y="585926"/>
                </a:lnTo>
                <a:lnTo>
                  <a:pt x="676959" y="563021"/>
                </a:lnTo>
                <a:lnTo>
                  <a:pt x="665822" y="540376"/>
                </a:lnTo>
                <a:lnTo>
                  <a:pt x="654145" y="518005"/>
                </a:lnTo>
                <a:lnTo>
                  <a:pt x="641935" y="495921"/>
                </a:lnTo>
                <a:lnTo>
                  <a:pt x="629199" y="474136"/>
                </a:lnTo>
                <a:lnTo>
                  <a:pt x="615943" y="452662"/>
                </a:lnTo>
                <a:lnTo>
                  <a:pt x="602176" y="431514"/>
                </a:lnTo>
                <a:lnTo>
                  <a:pt x="587906" y="410701"/>
                </a:lnTo>
                <a:lnTo>
                  <a:pt x="573140" y="390237"/>
                </a:lnTo>
                <a:lnTo>
                  <a:pt x="557887" y="370133"/>
                </a:lnTo>
                <a:lnTo>
                  <a:pt x="542156" y="350401"/>
                </a:lnTo>
                <a:lnTo>
                  <a:pt x="525957" y="331053"/>
                </a:lnTo>
                <a:lnTo>
                  <a:pt x="509297" y="312098"/>
                </a:lnTo>
                <a:lnTo>
                  <a:pt x="492188" y="293549"/>
                </a:lnTo>
                <a:lnTo>
                  <a:pt x="474639" y="275415"/>
                </a:lnTo>
                <a:lnTo>
                  <a:pt x="456659" y="257708"/>
                </a:lnTo>
                <a:lnTo>
                  <a:pt x="438260" y="240438"/>
                </a:lnTo>
                <a:lnTo>
                  <a:pt x="419451" y="223614"/>
                </a:lnTo>
                <a:lnTo>
                  <a:pt x="400244" y="207246"/>
                </a:lnTo>
                <a:lnTo>
                  <a:pt x="380651" y="191343"/>
                </a:lnTo>
                <a:lnTo>
                  <a:pt x="360681" y="175916"/>
                </a:lnTo>
                <a:lnTo>
                  <a:pt x="340346" y="160972"/>
                </a:lnTo>
                <a:lnTo>
                  <a:pt x="319659" y="146520"/>
                </a:lnTo>
                <a:lnTo>
                  <a:pt x="298631" y="132569"/>
                </a:lnTo>
                <a:lnTo>
                  <a:pt x="277275" y="119127"/>
                </a:lnTo>
                <a:lnTo>
                  <a:pt x="255602" y="106201"/>
                </a:lnTo>
                <a:lnTo>
                  <a:pt x="233625" y="93798"/>
                </a:lnTo>
                <a:lnTo>
                  <a:pt x="211356" y="81927"/>
                </a:lnTo>
                <a:lnTo>
                  <a:pt x="188810" y="70593"/>
                </a:lnTo>
                <a:lnTo>
                  <a:pt x="165997" y="59804"/>
                </a:lnTo>
                <a:lnTo>
                  <a:pt x="142933" y="49565"/>
                </a:lnTo>
                <a:lnTo>
                  <a:pt x="119629" y="39882"/>
                </a:lnTo>
                <a:lnTo>
                  <a:pt x="96100" y="30762"/>
                </a:lnTo>
                <a:lnTo>
                  <a:pt x="72359" y="22209"/>
                </a:lnTo>
                <a:lnTo>
                  <a:pt x="48419" y="14228"/>
                </a:lnTo>
                <a:lnTo>
                  <a:pt x="24295" y="6823"/>
                </a:lnTo>
                <a:lnTo>
                  <a:pt x="0" y="0"/>
                </a:lnTo>
              </a:path>
            </a:pathLst>
          </a:custGeom>
          <a:noFill/>
          <a:ln w="63500">
            <a:solidFill>
              <a:srgbClr val="1D4ED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056055" y="1966448"/>
            <a:ext cx="1288763" cy="1180934"/>
          </a:xfrm>
          <a:custGeom>
            <a:avLst/>
            <a:gdLst/>
            <a:ahLst/>
            <a:cxnLst/>
            <a:rect l="l" t="t" r="r" b="b"/>
            <a:pathLst>
              <a:path w="1288763" h="1180934">
                <a:moveTo>
                  <a:pt x="1288763" y="1180934"/>
                </a:moveTo>
                <a:lnTo>
                  <a:pt x="1272716" y="1138439"/>
                </a:lnTo>
                <a:lnTo>
                  <a:pt x="1255654" y="1096342"/>
                </a:lnTo>
                <a:lnTo>
                  <a:pt x="1237587" y="1054667"/>
                </a:lnTo>
                <a:lnTo>
                  <a:pt x="1218526" y="1013437"/>
                </a:lnTo>
                <a:lnTo>
                  <a:pt x="1198480" y="972677"/>
                </a:lnTo>
                <a:lnTo>
                  <a:pt x="1177462" y="932409"/>
                </a:lnTo>
                <a:lnTo>
                  <a:pt x="1155484" y="892657"/>
                </a:lnTo>
                <a:lnTo>
                  <a:pt x="1132558" y="853444"/>
                </a:lnTo>
                <a:lnTo>
                  <a:pt x="1108698" y="814792"/>
                </a:lnTo>
                <a:lnTo>
                  <a:pt x="1083917" y="776724"/>
                </a:lnTo>
                <a:lnTo>
                  <a:pt x="1058230" y="739262"/>
                </a:lnTo>
                <a:lnTo>
                  <a:pt x="1031652" y="702427"/>
                </a:lnTo>
                <a:lnTo>
                  <a:pt x="1004197" y="666240"/>
                </a:lnTo>
                <a:lnTo>
                  <a:pt x="975882" y="630722"/>
                </a:lnTo>
                <a:lnTo>
                  <a:pt x="946722" y="595894"/>
                </a:lnTo>
                <a:lnTo>
                  <a:pt x="916735" y="561776"/>
                </a:lnTo>
                <a:lnTo>
                  <a:pt x="885939" y="528387"/>
                </a:lnTo>
                <a:lnTo>
                  <a:pt x="854350" y="495747"/>
                </a:lnTo>
                <a:lnTo>
                  <a:pt x="821986" y="463875"/>
                </a:lnTo>
                <a:lnTo>
                  <a:pt x="788868" y="432788"/>
                </a:lnTo>
                <a:lnTo>
                  <a:pt x="755012" y="402504"/>
                </a:lnTo>
                <a:lnTo>
                  <a:pt x="720440" y="373042"/>
                </a:lnTo>
                <a:lnTo>
                  <a:pt x="685171" y="344418"/>
                </a:lnTo>
                <a:lnTo>
                  <a:pt x="649225" y="316648"/>
                </a:lnTo>
                <a:lnTo>
                  <a:pt x="612623" y="289749"/>
                </a:lnTo>
                <a:lnTo>
                  <a:pt x="575387" y="263736"/>
                </a:lnTo>
                <a:lnTo>
                  <a:pt x="537536" y="238624"/>
                </a:lnTo>
                <a:lnTo>
                  <a:pt x="499094" y="214428"/>
                </a:lnTo>
                <a:lnTo>
                  <a:pt x="460083" y="191161"/>
                </a:lnTo>
                <a:lnTo>
                  <a:pt x="420524" y="168837"/>
                </a:lnTo>
                <a:lnTo>
                  <a:pt x="380442" y="147468"/>
                </a:lnTo>
                <a:lnTo>
                  <a:pt x="339857" y="127067"/>
                </a:lnTo>
                <a:lnTo>
                  <a:pt x="298795" y="107647"/>
                </a:lnTo>
                <a:lnTo>
                  <a:pt x="257279" y="89217"/>
                </a:lnTo>
                <a:lnTo>
                  <a:pt x="215333" y="71788"/>
                </a:lnTo>
                <a:lnTo>
                  <a:pt x="172980" y="55371"/>
                </a:lnTo>
                <a:lnTo>
                  <a:pt x="130246" y="39976"/>
                </a:lnTo>
                <a:lnTo>
                  <a:pt x="87155" y="25610"/>
                </a:lnTo>
                <a:lnTo>
                  <a:pt x="43731" y="12282"/>
                </a:lnTo>
                <a:lnTo>
                  <a:pt x="0" y="0"/>
                </a:lnTo>
              </a:path>
            </a:pathLst>
          </a:custGeom>
          <a:noFill/>
          <a:ln w="63500">
            <a:solidFill>
              <a:srgbClr val="DC262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566160" y="3147382"/>
            <a:ext cx="1778658" cy="647378"/>
          </a:xfrm>
          <a:custGeom>
            <a:avLst/>
            <a:gdLst/>
            <a:ahLst/>
            <a:cxnLst/>
            <a:rect l="l" t="t" r="r" b="b"/>
            <a:pathLst>
              <a:path w="1778658" h="647378">
                <a:moveTo>
                  <a:pt x="0" y="647378"/>
                </a:moveTo>
                <a:lnTo>
                  <a:pt x="1778658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566160" y="1966448"/>
            <a:ext cx="489895" cy="1828312"/>
          </a:xfrm>
          <a:custGeom>
            <a:avLst/>
            <a:gdLst/>
            <a:ahLst/>
            <a:cxnLst/>
            <a:rect l="l" t="t" r="r" b="b"/>
            <a:pathLst>
              <a:path w="489895" h="1828312">
                <a:moveTo>
                  <a:pt x="0" y="1828312"/>
                </a:moveTo>
                <a:lnTo>
                  <a:pt x="489895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9272" y="354787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354787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9272" y="38221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3592" y="3822192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65576" y="3694176"/>
            <a:ext cx="201168" cy="201168"/>
          </a:xfrm>
          <a:prstGeom prst="roundRect">
            <a:avLst/>
          </a:prstGeom>
          <a:solidFill>
            <a:srgbClr val="D97706"/>
          </a:solidFill>
          <a:ln w="15875">
            <a:solidFill>
              <a:srgbClr val="D9770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6793" y="3237595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6249" y="3237595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56793" y="345705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6249" y="345705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73836" y="3354638"/>
            <a:ext cx="160934" cy="160934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47307" y="294987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66763" y="2949871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47307" y="3169327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66763" y="3169327"/>
            <a:ext cx="175565" cy="17556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64351" y="3066914"/>
            <a:ext cx="160934" cy="160934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4937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Calibri"/>
              </a:rPr>
              <a:t>defenders: 1.0 m from VIP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1554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attacker held ~1.8 m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64592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Same angle, shorter trip.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To swing the same angle around the VIP, the attacker has to fly about 1.8× further than a defender.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1546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  <a:latin typeface="Calibri"/>
              </a:rPr>
              <a:t>0.55 rad/s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20954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how fast the ring may turn while blocking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0233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Calibri"/>
              </a:rPr>
              <a:t>0.33 rad/s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07822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how fast the attacker can circle at its 0.6 m/s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8920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45309"/>
                </a:solidFill>
                <a:latin typeface="Calibri"/>
              </a:rPr>
              <a:t>~1.0 m/s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94690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speed at which it would start to 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The attacker is no faster than a defender (both are capped at 0.6 m/s). The defenders win on geometry, not on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Layers of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No single check is trusted. Each layer catches what the one before it can miss.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5803D"/>
                </a:solidFill>
                <a:latin typeface="Calibri"/>
              </a:rPr>
              <a:t>Before take-off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can still be fixed by moving a drone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54203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plan_escort checks the whole plan fits the room and keeps every distance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41071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take-off paths are checked for near misses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279392"/>
            <a:ext cx="128016" cy="12801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drone is tracked, on its floor mark, and able to arm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87368" y="3657600"/>
            <a:ext cx="19202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29768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D4ED8"/>
                </a:solidFill>
                <a:latin typeface="Calibri"/>
              </a:rPr>
              <a:t>In flight, every 1/20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automatic</a:t>
            </a:r>
          </a:p>
        </p:txBody>
      </p:sp>
      <p:sp>
        <p:nvSpPr>
          <p:cNvPr id="17" name="Oval 16"/>
          <p:cNvSpPr/>
          <p:nvPr/>
        </p:nvSpPr>
        <p:spPr>
          <a:xfrm>
            <a:off x="4553712" y="254203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command is limited in speed, spacing and room</a:t>
            </a:r>
          </a:p>
        </p:txBody>
      </p:sp>
      <p:sp>
        <p:nvSpPr>
          <p:cNvPr id="19" name="Oval 18"/>
          <p:cNvSpPr/>
          <p:nvPr/>
        </p:nvSpPr>
        <p:spPr>
          <a:xfrm>
            <a:off x="4553712" y="341071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each drone’s REAL position is watched: lost tracking → hold, then land</a:t>
            </a:r>
          </a:p>
        </p:txBody>
      </p:sp>
      <p:sp>
        <p:nvSpPr>
          <p:cNvPr id="21" name="Oval 20"/>
          <p:cNvSpPr/>
          <p:nvPr/>
        </p:nvSpPr>
        <p:spPr>
          <a:xfrm>
            <a:off x="4553712" y="427939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20624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VIP lost → the ring holds, then lands</a:t>
            </a:r>
          </a:p>
        </p:txBody>
      </p:sp>
      <p:sp>
        <p:nvSpPr>
          <p:cNvPr id="23" name="Oval 22"/>
          <p:cNvSpPr/>
          <p:nvPr/>
        </p:nvSpPr>
        <p:spPr>
          <a:xfrm>
            <a:off x="4553712" y="5148072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507492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VIP flown out of its box → the ring parks (cyan) and waits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7848" y="3657600"/>
            <a:ext cx="19202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138160" y="1417320"/>
            <a:ext cx="3611880" cy="4572000"/>
          </a:xfrm>
          <a:prstGeom prst="roundRect">
            <a:avLst>
              <a:gd name="adj" fmla="val 3037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554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C2626"/>
                </a:solidFill>
                <a:latin typeface="Calibri"/>
              </a:rPr>
              <a:t>Ways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9385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 human decides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254203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46888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Ctrl-C or Abort: stop, land, switch off. A controlled landing.</a:t>
            </a:r>
          </a:p>
        </p:txBody>
      </p:sp>
      <p:sp>
        <p:nvSpPr>
          <p:cNvPr id="31" name="Oval 30"/>
          <p:cNvSpPr/>
          <p:nvPr/>
        </p:nvSpPr>
        <p:spPr>
          <a:xfrm>
            <a:off x="8394192" y="341071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333756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E-STOP: motors off instantly. The drones drop. Needs a battery re-plug after.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show,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Operator-paced: nothing advances until someone presses Enter. The defence never waits.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Placement, tracking and arming are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Enter: arm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5564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187452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424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Take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Drones lift and form the ring, parked high for the DJI.</a:t>
            </a:r>
          </a:p>
        </p:txBody>
      </p:sp>
      <p:sp>
        <p:nvSpPr>
          <p:cNvPr id="14" name="Oval 13"/>
          <p:cNvSpPr/>
          <p:nvPr/>
        </p:nvSpPr>
        <p:spPr>
          <a:xfrm>
            <a:off x="200253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automatic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7296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329184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DJI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Pilot flies the DJI up under the ring. Ring locks 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pilot, then Enter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9028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70916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1888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moves to one side, sizing up the ring.</a:t>
            </a:r>
          </a:p>
        </p:txBody>
      </p:sp>
      <p:sp>
        <p:nvSpPr>
          <p:cNvPr id="28" name="Oval 27"/>
          <p:cNvSpPr/>
          <p:nvPr/>
        </p:nvSpPr>
        <p:spPr>
          <a:xfrm>
            <a:off x="483717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0760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612648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3620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Attack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hunts the gaps. Ring turns to block.</a:t>
            </a:r>
          </a:p>
        </p:txBody>
      </p:sp>
      <p:sp>
        <p:nvSpPr>
          <p:cNvPr id="36" name="Oval 35"/>
          <p:cNvSpPr/>
          <p:nvPr/>
        </p:nvSpPr>
        <p:spPr>
          <a:xfrm>
            <a:off x="6254496" y="424281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492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0" name="Rounded Rectangle 39"/>
          <p:cNvSpPr/>
          <p:nvPr/>
        </p:nvSpPr>
        <p:spPr>
          <a:xfrm>
            <a:off x="754380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5352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352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Stand 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Attacker gives up and withdraws.</a:t>
            </a:r>
          </a:p>
        </p:txBody>
      </p:sp>
      <p:sp>
        <p:nvSpPr>
          <p:cNvPr id="44" name="Oval 43"/>
          <p:cNvSpPr/>
          <p:nvPr/>
        </p:nvSpPr>
        <p:spPr>
          <a:xfrm>
            <a:off x="7671816" y="4242816"/>
            <a:ext cx="292608" cy="292608"/>
          </a:xfrm>
          <a:prstGeom prst="ellipse">
            <a:avLst/>
          </a:prstGeom>
          <a:solidFill>
            <a:srgbClr val="C02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magenta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Enter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4224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8" name="Rounded Rectangle 47"/>
          <p:cNvSpPr/>
          <p:nvPr/>
        </p:nvSpPr>
        <p:spPr>
          <a:xfrm>
            <a:off x="896112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7084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DJI down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Ring climbs clear. Pilot lands the DJI.</a:t>
            </a:r>
          </a:p>
        </p:txBody>
      </p:sp>
      <p:sp>
        <p:nvSpPr>
          <p:cNvPr id="52" name="Oval 51"/>
          <p:cNvSpPr/>
          <p:nvPr/>
        </p:nvSpPr>
        <p:spPr>
          <a:xfrm>
            <a:off x="9089136" y="424281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36608" y="4270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amber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pilot, then Enter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259568" y="3246120"/>
            <a:ext cx="1188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56" name="Rounded Rectangle 55"/>
          <p:cNvSpPr/>
          <p:nvPr/>
        </p:nvSpPr>
        <p:spPr>
          <a:xfrm>
            <a:off x="10378440" y="1600200"/>
            <a:ext cx="1298448" cy="3291840"/>
          </a:xfrm>
          <a:prstGeom prst="roundRect">
            <a:avLst>
              <a:gd name="adj" fmla="val 845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88168" y="1728216"/>
            <a:ext cx="365760" cy="36576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88168" y="2194560"/>
            <a:ext cx="1115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Land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8168" y="2788920"/>
            <a:ext cx="1078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All four drones land and switch off.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78440" y="5029200"/>
            <a:ext cx="1298448" cy="594360"/>
          </a:xfrm>
          <a:prstGeom prst="roundRect">
            <a:avLst>
              <a:gd name="adj" fmla="val 18461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 lIns="45720" rIns="45720"/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automatic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Lights: the attacker’s colour, except steps 1 and 6 where ALL drones go amber ("your move"). With a fixed point as the VIP (no DJI), steps 2 and 6 are skipped. Ctrl-C, Abort or q lands everything at any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What the lights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Colours are status, not decoration. Each colour has exactly one meaning.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4813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84708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attacker, pressing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9864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attacker taking station, or ALL drones: waiting for a human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584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Magenta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502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attacker has stood down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63600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White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00176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defender currently blocking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813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Violet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4708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two wings, closed up beside the blocker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56032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Deep 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9864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resting ring, nothing to do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584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Cyan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502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all 3 defenders: the VIP left its box, the ring is parked and waiting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709160"/>
            <a:ext cx="5212080" cy="1188720"/>
          </a:xfrm>
          <a:prstGeom prst="roundRect">
            <a:avLst>
              <a:gd name="adj" fmla="val 923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If the defenders all turn cyan, fly the DJI back toward the middle of the arena. They resume on their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Before and after the show: green = connected and ready, red = a script is in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Flight day,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Do the simulator once first. Skipping a step is how the known accidents happened.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Check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no drones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plan_escort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333756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Place drones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 their floor 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place_drones.py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621792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Record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yaml = where they 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sync_initial_positions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2446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9098280" y="1508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2872" y="1673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Radio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240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every drone must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97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scan_fleet.sh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mocap, server, GUIs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ros2 launch crazyflie launch.py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8152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333756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0215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Preflight GUI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go / no-go per drone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battery, mocap, yaw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6188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621792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82512" y="395935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Dry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checks, arms nothing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338CA"/>
                </a:solidFill>
                <a:latin typeface="Courier New"/>
              </a:rPr>
              <a:t>dry_run:=true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42248" y="47320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9098280" y="3794760"/>
            <a:ext cx="2606040" cy="1874520"/>
          </a:xfrm>
          <a:prstGeom prst="roundRect">
            <a:avLst>
              <a:gd name="adj" fmla="val 5853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959352"/>
            <a:ext cx="384048" cy="38404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977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Fly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5262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operator-paced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803D"/>
                </a:solidFill>
                <a:latin typeface="Courier New"/>
              </a:rPr>
              <a:t>escort_show</a:t>
            </a:r>
          </a:p>
        </p:txBody>
      </p:sp>
      <p:sp>
        <p:nvSpPr>
          <p:cNvPr id="50" name="Freeform 49"/>
          <p:cNvSpPr/>
          <p:nvPr/>
        </p:nvSpPr>
        <p:spPr>
          <a:xfrm>
            <a:off x="1760220" y="3383280"/>
            <a:ext cx="8641080" cy="393192"/>
          </a:xfrm>
          <a:custGeom>
            <a:avLst/>
            <a:gdLst/>
            <a:ahLst/>
            <a:cxnLst/>
            <a:rect l="l" t="t" r="r" b="b"/>
            <a:pathLst>
              <a:path w="8641080" h="393192">
                <a:moveTo>
                  <a:pt x="8641080" y="0"/>
                </a:moveTo>
                <a:lnTo>
                  <a:pt x="8641080" y="201168"/>
                </a:lnTo>
                <a:lnTo>
                  <a:pt x="0" y="201168"/>
                </a:lnTo>
                <a:lnTo>
                  <a:pt x="0" y="393192"/>
                </a:lnTo>
              </a:path>
            </a:pathLst>
          </a:custGeom>
          <a:noFill/>
          <a:ln w="19050">
            <a:solidFill>
              <a:srgbClr val="1F29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Steps 2–3 run with mocap up but NO server (server:=False): nothing owns the radio, nothing can arm.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safety filter: every command, every 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Three stages in a fixed order. The last rule applied always holds, so the order is the priority.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417320" cy="146304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desired</a:t>
            </a:r>
          </a:p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334155"/>
                </a:solidFill>
                <a:latin typeface="Calibri"/>
              </a:rPr>
              <a:t>1  SLEW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limit acceleration,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then speed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498348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D4ED8"/>
                </a:solidFill>
                <a:latin typeface="Calibri"/>
              </a:rPr>
              <a:t>2  SEPARATIONS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push the point out of each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keep-out circle, a few passes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8172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7772400" y="20116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5803D"/>
                </a:solidFill>
                <a:latin typeface="Calibri"/>
              </a:rPr>
              <a:t>3  ROOM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1F2937"/>
                </a:solidFill>
                <a:latin typeface="Calibri"/>
              </a:rPr>
              <a:t>pull the point back inside</a:t>
            </a:r>
          </a:p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the arena and height band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7064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10259568" y="2743200"/>
            <a:ext cx="283464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10561320" y="2011680"/>
            <a:ext cx="1170432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sent to</a:t>
            </a:r>
          </a:p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the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886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  <a:latin typeface="Calibri"/>
              </a:rPr>
              <a:t>Inside stage 2, order matters: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away from the attacker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" y="4818888"/>
            <a:ext cx="2743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53212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D4ED8"/>
                </a:solidFill>
                <a:latin typeface="Calibri"/>
              </a:rPr>
              <a:t>away from the other defenders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4818888"/>
            <a:ext cx="2743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8549640" y="4389120"/>
            <a:ext cx="274320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away from the VIP: LAST, so it always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Slew first, then separations. The other way round, the slew drags the drone straight back inside the limit (a real bug in an early version).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Two ways to command a Crazyflie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escort uses both, and hands over between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t" wrap="square" lIns="274320" rIns="274320"/>
          <a:lstStyle/>
          <a:p>
            <a:pPr algn="l"/>
            <a:r>
              <a:rPr sz="1900" b="1" i="0">
                <a:solidFill>
                  <a:srgbClr val="4338CA"/>
                </a:solidFill>
                <a:latin typeface="Calibri"/>
              </a:rPr>
              <a:t>High-level commands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338CA"/>
                </a:solidFill>
                <a:latin typeface="Courier New"/>
              </a:rPr>
              <a:t>takeoff, goTo, land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One goal and a duration. The DRONE plans a smooth path and flies it on its own.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Used for: take-off, forming the ring, landing.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t" wrap="square" lIns="274320" rIns="274320"/>
          <a:lstStyle/>
          <a:p>
            <a:pPr algn="l"/>
            <a:r>
              <a:rPr sz="1900" b="1" i="0">
                <a:solidFill>
                  <a:srgbClr val="1D4ED8"/>
                </a:solidFill>
                <a:latin typeface="Calibri"/>
              </a:rPr>
              <a:t>Streaming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D4ED8"/>
                </a:solidFill>
                <a:latin typeface="Courier New"/>
              </a:rPr>
              <a:t>cmdFullState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A new position + velocity every 1/20 s. The LAPTOP plans; it must keep sending.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Used for: the escort itself, which reacts to things that move.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246888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 flipH="1">
            <a:off x="5852160" y="292608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4297680" y="38862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first streamed setpoint takes over;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notifySetpointsStop hands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anchor="ctr" wrap="square" lIns="274320" rIns="274320"/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If streaming stops: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after 0.5 s the drone levels out; after 2 s its motors stop and it falls (then needs a battery re-plug). So every code path, including waiting for a human, keeps sending.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reactive attacker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Pulled toward the widest gap, pushed away by defenders and walls. Hard limits are enforced separately.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STATION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wait off to one side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0" y="2240280"/>
            <a:ext cx="9144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347472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ATTACK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hunt the widest gap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240280"/>
            <a:ext cx="9144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7132320" y="2331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Enter, or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it gives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026D3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800" b="1" i="0">
                <a:solidFill>
                  <a:srgbClr val="C026D3"/>
                </a:solidFill>
                <a:latin typeface="Calibri"/>
              </a:rPr>
              <a:t>STAND DOWN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withdraw to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Gap 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3016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Aims at the widest gap between defenders, preferring gaps away from where it is, so it flanks. Commits to a gap until a defender closes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Giving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3016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Remembers its closest approach. If it cannot beat that for a while, it stands down on its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Hard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Forces only make it LOOK careful. After every step its point is pushed out of a keep-out circle round the VIP and round each defender.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Same speed as a defender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47488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It plans at 0.8 m/s, but its commands go through the same safety filter, so it flies at 0.6 m/s at most.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Inside one controller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What escort.py does every 1/20 s, from positions in to commands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Positions in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VIP, attacker, defenders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752344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VIP velocity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smoothed estimate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9744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5047488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B45309"/>
                </a:solidFill>
                <a:latin typeface="Calibri"/>
              </a:rPr>
              <a:t>Blocking?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alert / release latch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4888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7342632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Pick the blocker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slot nearest the threat,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with a margin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00032" y="22174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9637776" y="16002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Turn the ring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at a limited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Close the wall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blend wings in or 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2752344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Slot targets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VIP + 1 m at each angle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9744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5047488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Sanity gate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ignore a pose that is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implausibly far off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4888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342632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5803D"/>
                </a:solidFill>
                <a:latin typeface="Calibri"/>
              </a:rPr>
              <a:t>Safety filter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per drone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0032" y="4274820"/>
            <a:ext cx="23774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9637776" y="3657600"/>
            <a:ext cx="2057400" cy="1234440"/>
          </a:xfrm>
          <a:prstGeom prst="roundRect">
            <a:avLst>
              <a:gd name="adj" fmla="val 8888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Commands out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1F2937"/>
                </a:solidFill>
                <a:latin typeface="Calibri"/>
              </a:rPr>
              <a:t>position + velocity</a:t>
            </a:r>
          </a:p>
        </p:txBody>
      </p:sp>
      <p:sp>
        <p:nvSpPr>
          <p:cNvPr id="22" name="Freeform 21"/>
          <p:cNvSpPr/>
          <p:nvPr/>
        </p:nvSpPr>
        <p:spPr>
          <a:xfrm>
            <a:off x="1485900" y="2834640"/>
            <a:ext cx="9180576" cy="822960"/>
          </a:xfrm>
          <a:custGeom>
            <a:avLst/>
            <a:gdLst/>
            <a:ahLst/>
            <a:cxnLst/>
            <a:rect l="l" t="t" r="r" b="b"/>
            <a:pathLst>
              <a:path w="9180576" h="822960">
                <a:moveTo>
                  <a:pt x="9180576" y="0"/>
                </a:moveTo>
                <a:lnTo>
                  <a:pt x="9180576" y="411480"/>
                </a:lnTo>
                <a:lnTo>
                  <a:pt x="0" y="411480"/>
                </a:lnTo>
                <a:lnTo>
                  <a:pt x="0" y="822960"/>
                </a:lnTo>
              </a:path>
            </a:pathLst>
          </a:custGeom>
          <a:noFill/>
          <a:ln w="19050">
            <a:solidFill>
              <a:srgbClr val="1F29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 release the ring HOLDS its angle instead of turning back home; winding back made it oscillate with the attacker.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One control tick,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Who talks to whom in 1/20 s. Arrows down the page are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334155"/>
                </a:solidFill>
                <a:latin typeface="Calibri"/>
              </a:rPr>
              <a:t>Mocap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/poses</a:t>
            </a:r>
          </a:p>
        </p:txBody>
      </p:sp>
      <p:sp>
        <p:nvSpPr>
          <p:cNvPr id="5" name="Freeform 4"/>
          <p:cNvSpPr/>
          <p:nvPr/>
        </p:nvSpPr>
        <p:spPr>
          <a:xfrm>
            <a:off x="146304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escort_show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laptop</a:t>
            </a:r>
          </a:p>
        </p:txBody>
      </p:sp>
      <p:sp>
        <p:nvSpPr>
          <p:cNvPr id="7" name="Freeform 6"/>
          <p:cNvSpPr/>
          <p:nvPr/>
        </p:nvSpPr>
        <p:spPr>
          <a:xfrm>
            <a:off x="448056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4338CA"/>
                </a:solidFill>
                <a:latin typeface="Calibri"/>
              </a:rPr>
              <a:t>crazyflie_server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laptop</a:t>
            </a:r>
          </a:p>
        </p:txBody>
      </p:sp>
      <p:sp>
        <p:nvSpPr>
          <p:cNvPr id="9" name="Freeform 8"/>
          <p:cNvSpPr/>
          <p:nvPr/>
        </p:nvSpPr>
        <p:spPr>
          <a:xfrm>
            <a:off x="749808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2600" y="137160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Crazyflie</a:t>
            </a:r>
          </a:p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firmware</a:t>
            </a:r>
          </a:p>
        </p:txBody>
      </p:sp>
      <p:sp>
        <p:nvSpPr>
          <p:cNvPr id="11" name="Freeform 10"/>
          <p:cNvSpPr/>
          <p:nvPr/>
        </p:nvSpPr>
        <p:spPr>
          <a:xfrm>
            <a:off x="10515600" y="2057400"/>
            <a:ext cx="0" cy="4251960"/>
          </a:xfrm>
          <a:custGeom>
            <a:avLst/>
            <a:gdLst/>
            <a:ahLst/>
            <a:cxnLst/>
            <a:rect l="l" t="t" r="r" b="b"/>
            <a:pathLst>
              <a:path w="0" h="4251960">
                <a:moveTo>
                  <a:pt x="0" y="0"/>
                </a:moveTo>
                <a:lnTo>
                  <a:pt x="0" y="4251960"/>
                </a:lnTo>
              </a:path>
            </a:pathLst>
          </a:custGeom>
          <a:noFill/>
          <a:ln w="15875">
            <a:solidFill>
              <a:srgbClr val="CBD5E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463040" y="242316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1600200" y="21305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latest poses (cached, 50 Hz)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2788920"/>
            <a:ext cx="603504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1600200" y="249631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same poses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0" y="315468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prstDash val="dash"/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7635240" y="2862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poses → onboard estimator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4526280"/>
            <a:ext cx="3017520" cy="0"/>
          </a:xfrm>
          <a:prstGeom prst="line">
            <a:avLst/>
          </a:prstGeom>
          <a:ln w="22225">
            <a:solidFill>
              <a:srgbClr val="4338CA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4617720" y="4233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cmd_full_state × 4 drones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0" y="4892040"/>
            <a:ext cx="30175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7635240" y="4599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radio: position + velocity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338328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checks, attacker model,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controller step, safety filter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51206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drone’s own controller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tracks the setpoint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12064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wait for the next tick,</a:t>
            </a:r>
          </a:p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still handling messages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How it is checked before it flies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The checker runs the SAME controller code as the flight script. Only the drones are simulated.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5803D"/>
                </a:solidFill>
                <a:latin typeface="Calibri"/>
              </a:rPr>
              <a:t>plan_escort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pure Python, seconds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same controller objects;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drones modelled as a simple lag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2743200"/>
            <a:ext cx="5943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4348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4338CA"/>
                </a:solidFill>
                <a:latin typeface="Calibri"/>
              </a:rPr>
              <a:t>Simulator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full ROS stack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real show script, simulated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drones (no mocap)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26680" y="2743200"/>
            <a:ext cx="5943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8321040" y="16459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D4ED8"/>
                </a:solidFill>
                <a:latin typeface="Calibri"/>
              </a:rPr>
              <a:t>Hardware, in stages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one change at a time</a:t>
            </a:r>
          </a:p>
          <a:p>
            <a:pPr algn="ctr">
              <a:spcBef>
                <a:spcPts val="1200"/>
              </a:spcBef>
            </a:pPr>
            <a:r>
              <a:rPr sz="1400" b="0" i="0">
                <a:solidFill>
                  <a:srgbClr val="1F2937"/>
                </a:solidFill>
                <a:latin typeface="Calibri"/>
              </a:rPr>
              <a:t>fixed point → DJI →</a:t>
            </a:r>
          </a:p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attacker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What a pass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16052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distance, speed, room limit and altitude held for a whole simulated encounter, AND the ring stayed a 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Sweeps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0060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Find the limit, e.g. the fastest VIP walk at which everything still holds.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Honest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4406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drone model is assumed, not measured. The simulator publishes no mocap, so position handling is first tested on hardware.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Design lessons that carry 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7512" y="141732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D4ED8"/>
                </a:solidFill>
                <a:latin typeface="Calibri"/>
              </a:rPr>
              <a:t>Geometry over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Rotate, never swap. The nearest slot leads. The inside track wins.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07992" y="1417320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Calibri"/>
              </a:rPr>
              <a:t>Projections over 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Hard limits are projections. The last one applied wins, so order is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48472" y="1417320"/>
            <a:ext cx="310896" cy="31089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4173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B45309"/>
                </a:solidFill>
                <a:latin typeface="Calibri"/>
              </a:rPr>
              <a:t>Hysteresis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Engage/release, blocker hand-over, gap choice, geofence re-entry.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931920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Check the drone, not the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Watch real positions and tracking error; ignore implausible measurements.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7992" y="3931920"/>
            <a:ext cx="310896" cy="31089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4338CA"/>
                </a:solidFill>
                <a:latin typeface="Calibri"/>
              </a:rPr>
              <a:t>Never block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Waiting for a human still streams. Humans pace the attacker, never the defence.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48472" y="3931920"/>
            <a:ext cx="310896" cy="310896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34155"/>
                </a:solidFill>
                <a:latin typeface="Calibri"/>
              </a:rPr>
              <a:t>One source of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The checker runs the flight code. The room lives in one file. Directions rotate with the frame.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lab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Only the laptop ↔ Motive link uses the network. The drones never join it: they use the radio.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OptiTrack cameras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up to 240 Hz</a:t>
            </a:r>
          </a:p>
        </p:txBody>
      </p:sp>
      <p:sp>
        <p:nvSpPr>
          <p:cNvPr id="5" name="Freeform 4"/>
          <p:cNvSpPr/>
          <p:nvPr/>
        </p:nvSpPr>
        <p:spPr>
          <a:xfrm>
            <a:off x="2194560" y="237744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24231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LAN cable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Mocap router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cameras only</a:t>
            </a:r>
          </a:p>
        </p:txBody>
      </p:sp>
      <p:sp>
        <p:nvSpPr>
          <p:cNvPr id="8" name="Freeform 7"/>
          <p:cNvSpPr/>
          <p:nvPr/>
        </p:nvSpPr>
        <p:spPr>
          <a:xfrm>
            <a:off x="2194560" y="37033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749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LAN 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Motive PC (Windows)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streams NatNet multicast, 50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Hangar switch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wired</a:t>
            </a:r>
          </a:p>
        </p:txBody>
      </p:sp>
      <p:sp>
        <p:nvSpPr>
          <p:cNvPr id="12" name="Freeform 11"/>
          <p:cNvSpPr/>
          <p:nvPr/>
        </p:nvSpPr>
        <p:spPr>
          <a:xfrm>
            <a:off x="6080760" y="3017520"/>
            <a:ext cx="0" cy="411480"/>
          </a:xfrm>
          <a:custGeom>
            <a:avLst/>
            <a:gdLst/>
            <a:ahLst/>
            <a:cxnLst/>
            <a:rect l="l" t="t" r="r" b="b"/>
            <a:pathLst>
              <a:path w="0" h="411480">
                <a:moveTo>
                  <a:pt x="0" y="0"/>
                </a:moveTo>
                <a:lnTo>
                  <a:pt x="0" y="411480"/>
                </a:lnTo>
              </a:path>
            </a:pathLst>
          </a:custGeom>
          <a:noFill/>
          <a:ln w="19050">
            <a:solidFill>
              <a:srgbClr val="3341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342900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Lab router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5 GHz Wi-Fi, same subnet as Motive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840480" y="2560320"/>
            <a:ext cx="731520" cy="164592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4224528" y="35204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338CA"/>
                </a:solidFill>
                <a:latin typeface="Calibri"/>
              </a:rPr>
              <a:t>positions</a:t>
            </a:r>
          </a:p>
          <a:p>
            <a:pPr algn="l"/>
            <a:r>
              <a:rPr sz="1100" b="0" i="0">
                <a:solidFill>
                  <a:srgbClr val="4338CA"/>
                </a:solidFill>
                <a:latin typeface="Calibri"/>
              </a:rPr>
              <a:t>(wired)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4290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F2937"/>
                </a:solidFill>
                <a:latin typeface="Calibri"/>
              </a:rPr>
              <a:t>Laptop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ROS 2, the escort show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3886200"/>
            <a:ext cx="731520" cy="0"/>
          </a:xfrm>
          <a:prstGeom prst="line">
            <a:avLst/>
          </a:prstGeom>
          <a:ln w="25400">
            <a:solidFill>
              <a:srgbClr val="4338CA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7543800" y="342900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338CA"/>
                </a:solidFill>
                <a:latin typeface="Calibri"/>
              </a:rPr>
              <a:t>Wi-Fi</a:t>
            </a:r>
          </a:p>
          <a:p>
            <a:pPr algn="ctr"/>
            <a:r>
              <a:rPr sz="1100" b="0" i="0">
                <a:solidFill>
                  <a:srgbClr val="4338CA"/>
                </a:solidFill>
                <a:latin typeface="Calibri"/>
              </a:rPr>
              <a:t>or 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80060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 w="15875">
            <a:solidFill>
              <a:srgbClr val="33415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Crazyradio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66960" y="4343400"/>
            <a:ext cx="0" cy="45720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</p:cxnSp>
      <p:sp>
        <p:nvSpPr>
          <p:cNvPr id="21" name="Oval 20"/>
          <p:cNvSpPr/>
          <p:nvPr/>
        </p:nvSpPr>
        <p:spPr>
          <a:xfrm>
            <a:off x="861657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4700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1657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4700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946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9381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2424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9381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2424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1670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7105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0148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7105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0148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93949" y="5950549"/>
            <a:ext cx="168981" cy="168981"/>
          </a:xfrm>
          <a:prstGeom prst="round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48294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78723" y="5827654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48294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78723" y="6058083"/>
            <a:ext cx="184343" cy="18434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71189" y="5950549"/>
            <a:ext cx="168981" cy="168981"/>
          </a:xfrm>
          <a:prstGeom prst="roundRect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966960" y="5532120"/>
            <a:ext cx="0" cy="22860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</p:cxnSp>
      <p:sp>
        <p:nvSpPr>
          <p:cNvPr id="42" name="Rounded Rectangle 41"/>
          <p:cNvSpPr/>
          <p:nvPr/>
        </p:nvSpPr>
        <p:spPr>
          <a:xfrm>
            <a:off x="548640" y="5623560"/>
            <a:ext cx="7040880" cy="777240"/>
          </a:xfrm>
          <a:prstGeom prst="roundRect">
            <a:avLst>
              <a:gd name="adj" fmla="val 14117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Changing the laptop from Wi-Fi to cable (or back) changes the Motive address. Leave hostname: "auto" in motion_capture.yaml and the launch finds Motive by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